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4" r:id="rId2"/>
    <p:sldId id="405" r:id="rId3"/>
    <p:sldId id="407" r:id="rId4"/>
    <p:sldId id="409" r:id="rId5"/>
    <p:sldId id="411" r:id="rId6"/>
    <p:sldId id="442" r:id="rId7"/>
    <p:sldId id="415" r:id="rId8"/>
    <p:sldId id="417" r:id="rId9"/>
    <p:sldId id="443" r:id="rId10"/>
    <p:sldId id="421" r:id="rId11"/>
    <p:sldId id="423" r:id="rId12"/>
    <p:sldId id="444" r:id="rId13"/>
    <p:sldId id="427" r:id="rId14"/>
    <p:sldId id="429" r:id="rId15"/>
    <p:sldId id="431" r:id="rId16"/>
    <p:sldId id="445" r:id="rId17"/>
    <p:sldId id="435" r:id="rId18"/>
    <p:sldId id="437" r:id="rId19"/>
    <p:sldId id="439" r:id="rId20"/>
    <p:sldId id="448" r:id="rId21"/>
    <p:sldId id="29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94366" autoAdjust="0"/>
  </p:normalViewPr>
  <p:slideViewPr>
    <p:cSldViewPr snapToGrid="0" snapToObjects="1">
      <p:cViewPr>
        <p:scale>
          <a:sx n="51" d="100"/>
          <a:sy n="51" d="100"/>
        </p:scale>
        <p:origin x="400" y="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786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76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svg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microsoft.com/office/2007/relationships/hdphoto" Target="../media/hdphoto4.wdp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.png"/><Relationship Id="rId4" Type="http://schemas.microsoft.com/office/2007/relationships/hdphoto" Target="../media/hdphoto6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g"/><Relationship Id="rId3" Type="http://schemas.openxmlformats.org/officeDocument/2006/relationships/image" Target="../media/image2.png"/><Relationship Id="rId7" Type="http://schemas.microsoft.com/office/2007/relationships/hdphoto" Target="../media/hdphoto8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microsoft.com/office/2007/relationships/hdphoto" Target="../media/hdphoto7.wdp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9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5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263640"/>
            <a:ext cx="12192000" cy="36576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ar-SA" sz="2400" i="1" dirty="0">
                <a:solidFill>
                  <a:srgbClr val="C4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مفتاح عربي</a:t>
            </a:r>
          </a:p>
        </p:txBody>
      </p:sp>
      <p:sp>
        <p:nvSpPr>
          <p:cNvPr id="7" name="Text 4"/>
          <p:cNvSpPr/>
          <p:nvPr/>
        </p:nvSpPr>
        <p:spPr>
          <a:xfrm>
            <a:off x="731520" y="12801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Miftah Arabi</a:t>
            </a:r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8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d'apprentissage de la langue arabe</a:t>
            </a:r>
          </a:p>
        </p:txBody>
      </p:sp>
      <p:sp>
        <p:nvSpPr>
          <p:cNvPr id="9" name="Shape 6"/>
          <p:cNvSpPr/>
          <p:nvPr/>
        </p:nvSpPr>
        <p:spPr>
          <a:xfrm>
            <a:off x="731520" y="3657600"/>
            <a:ext cx="4114800" cy="4572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315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Zhaki EL OUARROUDI</a:t>
            </a:r>
          </a:p>
        </p:txBody>
      </p:sp>
      <p:sp>
        <p:nvSpPr>
          <p:cNvPr id="11" name="Text 8"/>
          <p:cNvSpPr/>
          <p:nvPr/>
        </p:nvSpPr>
        <p:spPr>
          <a:xfrm>
            <a:off x="731520" y="4343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professionnel DWWM — ALT RH Formation</a:t>
            </a:r>
          </a:p>
        </p:txBody>
      </p:sp>
      <p:sp>
        <p:nvSpPr>
          <p:cNvPr id="12" name="Text 9"/>
          <p:cNvSpPr/>
          <p:nvPr/>
        </p:nvSpPr>
        <p:spPr>
          <a:xfrm>
            <a:off x="731520" y="4754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2025-2026</a:t>
            </a:r>
          </a:p>
        </p:txBody>
      </p:sp>
      <p:pic>
        <p:nvPicPr>
          <p:cNvPr id="14" name="Image 13" descr="Une image contenant capture d’écran, texte, conception&#10;&#10;Le contenu généré par l’IA peut être incorrect.">
            <a:extLst>
              <a:ext uri="{FF2B5EF4-FFF2-40B4-BE49-F238E27FC236}">
                <a16:creationId xmlns:a16="http://schemas.microsoft.com/office/drawing/2014/main" id="{49588127-6022-C59A-A518-6EDF579CD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17" y="228601"/>
            <a:ext cx="5486399" cy="545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3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besoin</a:t>
            </a:r>
          </a:p>
        </p:txBody>
      </p:sp>
      <p:sp>
        <p:nvSpPr>
          <p:cNvPr id="5" name="Shape 3"/>
          <p:cNvSpPr/>
          <p:nvPr/>
        </p:nvSpPr>
        <p:spPr>
          <a:xfrm>
            <a:off x="-3048" y="656082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2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1247120" cy="452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enseignant de langue arabe diffusait ses cours sur YouTube, TikTok, Instagram et Telegram</a:t>
            </a:r>
          </a:p>
          <a:p>
            <a:pPr marL="342900" indent="-342900"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plateforme unique pour centraliser et structurer ses contenus</a:t>
            </a:r>
          </a:p>
          <a:p>
            <a:pPr marL="342900" indent="-342900"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apprenants francophones avaient besoin d'une interface claire et organisée</a:t>
            </a:r>
          </a:p>
          <a:p>
            <a:pPr marL="342900" indent="-342900"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L'enseignant avait besoin d'un back-office simple pour gérer ses cours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41910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enseignant diffusait ses contenus sur plusieurs plateformes sans structure pédagogique centralisée.</a:t>
            </a:r>
          </a:p>
        </p:txBody>
      </p:sp>
      <p:pic>
        <p:nvPicPr>
          <p:cNvPr id="11" name="Image 10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F6DAB379-A0B5-EA23-FDE2-2208FB264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13" name="Image 12" descr="Une image contenant motif, cercle, Symétri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4D13CC4-C7DD-A690-9971-842CBD39B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2032000"/>
            <a:ext cx="2540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90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3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1247120" cy="452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la consultation de leçons organisées par catégories, niveaux et tags</a:t>
            </a:r>
          </a:p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des </a:t>
            </a:r>
            <a:r>
              <a:rPr lang="en-US" sz="1800" dirty="0" err="1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r>
              <a:rPr lang="en-US" sz="180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leçon</a:t>
            </a:r>
          </a:p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back-office complet et sécurisé</a:t>
            </a:r>
          </a:p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 espace utilisateur : inscription, profil, favoris</a:t>
            </a:r>
          </a:p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 un MVP (Minimum Viable Product) stable, sécurisé et évolutif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46990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pensé comme MVP, enrichi progressivement avec favoris, vérification d'email et mode maintenance.</a:t>
            </a:r>
          </a:p>
        </p:txBody>
      </p:sp>
      <p:pic>
        <p:nvPicPr>
          <p:cNvPr id="11" name="Image 10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FAE7F4CD-14ED-4F2A-6329-261AEBA4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13" name="Image 12" descr="Une image contenant vélo, cercle, noir et blanc, monochrome&#10;&#10;Le contenu généré par l’IA peut être incorrect.">
            <a:extLst>
              <a:ext uri="{FF2B5EF4-FFF2-40B4-BE49-F238E27FC236}">
                <a16:creationId xmlns:a16="http://schemas.microsoft.com/office/drawing/2014/main" id="{90050D80-9F53-AE59-81DA-8C1E53722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2032000"/>
            <a:ext cx="2540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l'existant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4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552915"/>
              </p:ext>
            </p:extLst>
          </p:nvPr>
        </p:nvGraphicFramePr>
        <p:xfrm>
          <a:off x="457200" y="1508760"/>
          <a:ext cx="11247120" cy="2971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6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 perso.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6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Espace 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6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6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6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Duolingo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Madrasa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F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6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Miftah Arabi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6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6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6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6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Miftah Arabi répond au besoin d'une plateforme sur mesure pour un enseignant indépendant.</a:t>
            </a:r>
          </a:p>
        </p:txBody>
      </p:sp>
      <p:pic>
        <p:nvPicPr>
          <p:cNvPr id="11" name="Image 10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8F3C06B0-5DB4-19B8-AF77-7ED95D2A1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13" name="Image 12" descr="Une image contenant Graphique, rouge, symbole, Carmin&#10;&#10;Le contenu généré par l’IA peut être incorrect.">
            <a:extLst>
              <a:ext uri="{FF2B5EF4-FFF2-40B4-BE49-F238E27FC236}">
                <a16:creationId xmlns:a16="http://schemas.microsoft.com/office/drawing/2014/main" id="{F8B2C504-C0E6-730D-9640-21FA1EAD8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5016500"/>
            <a:ext cx="1016000" cy="1016000"/>
          </a:xfrm>
          <a:prstGeom prst="rect">
            <a:avLst/>
          </a:prstGeom>
        </p:spPr>
      </p:pic>
      <p:pic>
        <p:nvPicPr>
          <p:cNvPr id="18" name="Image 17" descr="Une image contenant capture d’écran, texte, conception&#10;&#10;Le contenu généré par l’IA peut être incorrect.">
            <a:extLst>
              <a:ext uri="{FF2B5EF4-FFF2-40B4-BE49-F238E27FC236}">
                <a16:creationId xmlns:a16="http://schemas.microsoft.com/office/drawing/2014/main" id="{B1BF7704-EBEA-5584-2BBF-6B12B573C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5016500"/>
            <a:ext cx="1016000" cy="1016000"/>
          </a:xfrm>
          <a:prstGeom prst="rect">
            <a:avLst/>
          </a:prstGeom>
        </p:spPr>
      </p:pic>
      <p:pic>
        <p:nvPicPr>
          <p:cNvPr id="14" name="Image 13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8E922EE6-863D-5611-7455-8686FA32D2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600" y="5052060"/>
            <a:ext cx="1016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6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et fonctionnalités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5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657600" cy="4846320"/>
          </a:xfrm>
          <a:prstGeom prst="rect">
            <a:avLst/>
          </a:prstGeom>
          <a:solidFill>
            <a:srgbClr val="F2EDE6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leçons + filtres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leçon + ressources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contact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légales + plan du site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d'erreur 403/404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</a:t>
            </a:r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657600" cy="4846320"/>
          </a:xfrm>
          <a:prstGeom prst="rect">
            <a:avLst/>
          </a:prstGeom>
          <a:solidFill>
            <a:srgbClr val="F2EDE6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343400" y="1463040"/>
            <a:ext cx="3657600" cy="45720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3434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</a:p>
        </p:txBody>
      </p:sp>
      <p:sp>
        <p:nvSpPr>
          <p:cNvPr id="16" name="Text 14"/>
          <p:cNvSpPr/>
          <p:nvPr/>
        </p:nvSpPr>
        <p:spPr>
          <a:xfrm>
            <a:off x="4434840" y="19659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email obligatoire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sécurisée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son profil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ses favoris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mot de passe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Se souvenir de moi »</a:t>
            </a:r>
          </a:p>
        </p:txBody>
      </p:sp>
      <p:sp>
        <p:nvSpPr>
          <p:cNvPr id="17" name="Shape 15"/>
          <p:cNvSpPr/>
          <p:nvPr/>
        </p:nvSpPr>
        <p:spPr>
          <a:xfrm>
            <a:off x="8321040" y="1463040"/>
            <a:ext cx="3657600" cy="4846320"/>
          </a:xfrm>
          <a:prstGeom prst="rect">
            <a:avLst/>
          </a:prstGeom>
          <a:solidFill>
            <a:srgbClr val="F2EDE6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321040" y="1463040"/>
            <a:ext cx="3657600" cy="45720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32104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</a:p>
        </p:txBody>
      </p:sp>
      <p:sp>
        <p:nvSpPr>
          <p:cNvPr id="20" name="Text 18"/>
          <p:cNvSpPr/>
          <p:nvPr/>
        </p:nvSpPr>
        <p:spPr>
          <a:xfrm>
            <a:off x="8412480" y="19659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vue d'ensemble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catégories, tags, leçons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/ dépublication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utilisateurs + rôles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 contact</a:t>
            </a:r>
          </a:p>
          <a:p>
            <a:pPr marL="228600" indent="-2286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maintenance</a:t>
            </a:r>
          </a:p>
        </p:txBody>
      </p:sp>
      <p:pic>
        <p:nvPicPr>
          <p:cNvPr id="21" name="Image 20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093B4E36-9BA3-58C3-7893-57023F0CA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25" name="Image 24" descr="Une image contenant cercle, motif, Symétrie, art&#10;&#10;Le contenu généré par l’IA peut être incorrect.">
            <a:extLst>
              <a:ext uri="{FF2B5EF4-FFF2-40B4-BE49-F238E27FC236}">
                <a16:creationId xmlns:a16="http://schemas.microsoft.com/office/drawing/2014/main" id="{3ECCFA6F-F30C-582D-F56E-1E5EAFB73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63" y="3595455"/>
            <a:ext cx="2088000" cy="2917064"/>
          </a:xfrm>
          <a:prstGeom prst="rect">
            <a:avLst/>
          </a:prstGeom>
        </p:spPr>
      </p:pic>
      <p:pic>
        <p:nvPicPr>
          <p:cNvPr id="27" name="Image 26" descr="Une image contenant cercle, capture d’écran, motif, Symétrie&#10;&#10;Le contenu généré par l’IA peut être incorrect.">
            <a:extLst>
              <a:ext uri="{FF2B5EF4-FFF2-40B4-BE49-F238E27FC236}">
                <a16:creationId xmlns:a16="http://schemas.microsoft.com/office/drawing/2014/main" id="{D8855E98-1BAB-5F35-E65A-EA1E290A3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896" y="3709236"/>
            <a:ext cx="2430780" cy="2764716"/>
          </a:xfrm>
          <a:prstGeom prst="rect">
            <a:avLst/>
          </a:prstGeom>
        </p:spPr>
      </p:pic>
      <p:pic>
        <p:nvPicPr>
          <p:cNvPr id="29" name="Image 28" descr="Une image contenant cercle, noir et blanc, capture d’écran, motif&#10;&#10;Le contenu généré par l’IA peut être incorrect.">
            <a:extLst>
              <a:ext uri="{FF2B5EF4-FFF2-40B4-BE49-F238E27FC236}">
                <a16:creationId xmlns:a16="http://schemas.microsoft.com/office/drawing/2014/main" id="{BC44E5BE-7C5C-8F76-2267-3A42AF9252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8412" y="3638483"/>
            <a:ext cx="2125980" cy="293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46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FFFFFF"/>
                </a:solidFill>
                <a:latin typeface="Calibri" pitchFamily="34" charset="0"/>
              </a:rPr>
              <a:t>Maquettes Balsamiq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6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657600" cy="4064000"/>
          </a:xfrm>
          <a:prstGeom prst="rect">
            <a:avLst/>
          </a:prstGeom>
          <a:solidFill>
            <a:srgbClr val="F2EDE6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dirty="0">
                <a:solidFill>
                  <a:srgbClr val="FFFFFF"/>
                </a:solidFill>
                <a:latin typeface="Calibri" pitchFamily="34" charset="0"/>
              </a:rPr>
              <a:t>Page d'accueil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657600" cy="4064000"/>
          </a:xfrm>
          <a:prstGeom prst="rect">
            <a:avLst/>
          </a:prstGeom>
          <a:solidFill>
            <a:srgbClr val="F2EDE6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343400" y="1463040"/>
            <a:ext cx="3657600" cy="45720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3434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dirty="0">
                <a:solidFill>
                  <a:srgbClr val="FFFFFF"/>
                </a:solidFill>
                <a:latin typeface="Calibri" pitchFamily="34" charset="0"/>
              </a:rPr>
              <a:t>Liste des leçons</a:t>
            </a:r>
          </a:p>
        </p:txBody>
      </p:sp>
      <p:sp>
        <p:nvSpPr>
          <p:cNvPr id="16" name="Text 14"/>
          <p:cNvSpPr/>
          <p:nvPr/>
        </p:nvSpPr>
        <p:spPr>
          <a:xfrm>
            <a:off x="4434840" y="19659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1400" dirty="0"/>
          </a:p>
        </p:txBody>
      </p:sp>
      <p:sp>
        <p:nvSpPr>
          <p:cNvPr id="17" name="Shape 15"/>
          <p:cNvSpPr/>
          <p:nvPr/>
        </p:nvSpPr>
        <p:spPr>
          <a:xfrm>
            <a:off x="8419837" y="1453896"/>
            <a:ext cx="3657600" cy="4434840"/>
          </a:xfrm>
          <a:prstGeom prst="rect">
            <a:avLst/>
          </a:prstGeom>
          <a:solidFill>
            <a:srgbClr val="F2EDE6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399167" y="1472184"/>
            <a:ext cx="3657600" cy="45720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32104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dirty="0">
                <a:solidFill>
                  <a:srgbClr val="FFFFFF"/>
                </a:solidFill>
                <a:latin typeface="Calibri" pitchFamily="34" charset="0"/>
              </a:rPr>
              <a:t>Tableau de bord admin</a:t>
            </a:r>
          </a:p>
        </p:txBody>
      </p:sp>
      <p:sp>
        <p:nvSpPr>
          <p:cNvPr id="20" name="Text 18"/>
          <p:cNvSpPr/>
          <p:nvPr/>
        </p:nvSpPr>
        <p:spPr>
          <a:xfrm>
            <a:off x="8412480" y="19659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1400" dirty="0"/>
          </a:p>
        </p:txBody>
      </p:sp>
      <p:pic>
        <p:nvPicPr>
          <p:cNvPr id="21" name="Image 20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093B4E36-9BA3-58C3-7893-57023F0CA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3CC43F2B-4898-CF3B-A353-3E2834583B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819" t="2595" r="10587" b="1774"/>
          <a:stretch/>
        </p:blipFill>
        <p:spPr>
          <a:xfrm>
            <a:off x="365760" y="1920240"/>
            <a:ext cx="3657600" cy="3968496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F77734AD-C4B8-DA70-3822-51068F14BA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956" t="1417" r="10407" b="1810"/>
          <a:stretch/>
        </p:blipFill>
        <p:spPr>
          <a:xfrm>
            <a:off x="4343400" y="1920240"/>
            <a:ext cx="3657600" cy="3968496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0279A35-25E2-08F1-C0AD-57684773CF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2476" r="10808" b="1769"/>
          <a:stretch/>
        </p:blipFill>
        <p:spPr>
          <a:xfrm>
            <a:off x="8399167" y="1943608"/>
            <a:ext cx="3678270" cy="3945128"/>
          </a:xfrm>
          <a:prstGeom prst="rect">
            <a:avLst/>
          </a:prstGeom>
        </p:spPr>
      </p:pic>
      <p:sp>
        <p:nvSpPr>
          <p:cNvPr id="25" name="EnchainementBand">
            <a:extLst>
              <a:ext uri="{FF2B5EF4-FFF2-40B4-BE49-F238E27FC236}">
                <a16:creationId xmlns:a16="http://schemas.microsoft.com/office/drawing/2014/main" id="{199F29B6-5CE3-4164-835D-62A4F8EDA1B5}"/>
              </a:ext>
            </a:extLst>
          </p:cNvPr>
          <p:cNvSpPr txBox="1"/>
          <p:nvPr/>
        </p:nvSpPr>
        <p:spPr>
          <a:xfrm>
            <a:off x="482600" y="5984240"/>
            <a:ext cx="11252200" cy="452120"/>
          </a:xfrm>
          <a:prstGeom prst="rect">
            <a:avLst/>
          </a:prstGeom>
          <a:solidFill>
            <a:srgbClr val="8C6A43"/>
          </a:solidFill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/>
              </a:rPr>
              <a:t>Enchaînement visiteur</a:t>
            </a:r>
            <a:r>
              <a:rPr lang="fr-FR" sz="1100" dirty="0">
                <a:solidFill>
                  <a:srgbClr val="FFFFFF"/>
                </a:solidFill>
                <a:latin typeface="Calibri"/>
              </a:rPr>
              <a:t> : Accueil → Liste leçons (filtres) → Détail leçon → Connexion → Favoris</a:t>
            </a:r>
          </a:p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/>
              </a:rPr>
              <a:t>Enchaînement admin</a:t>
            </a:r>
            <a:r>
              <a:rPr lang="fr-FR" sz="1100" dirty="0">
                <a:solidFill>
                  <a:srgbClr val="FFFFFF"/>
                </a:solidFill>
                <a:latin typeface="Calibri"/>
              </a:rPr>
              <a:t> : Login → Tableau de bord → CRUD catégories / tags / leçons / ressources</a:t>
            </a:r>
          </a:p>
        </p:txBody>
      </p:sp>
      <p:pic>
        <p:nvPicPr>
          <p:cNvPr id="26" name="Graphique 25">
            <a:extLst>
              <a:ext uri="{FF2B5EF4-FFF2-40B4-BE49-F238E27FC236}">
                <a16:creationId xmlns:a16="http://schemas.microsoft.com/office/drawing/2014/main" id="{7215C77B-8D9F-B5DE-A3BA-8EF88232EE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69248" y="5072608"/>
            <a:ext cx="1464304" cy="41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42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7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1247120" cy="1771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Agile Scrum — sprints et tickets</a:t>
            </a:r>
          </a:p>
          <a:p>
            <a:pPr marL="342900" indent="-3429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avec Trello (backlog, en cours, terminé)</a:t>
            </a:r>
          </a:p>
          <a:p>
            <a:pPr marL="342900" indent="-3429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Git/GitHub — convention de branches</a:t>
            </a:r>
          </a:p>
          <a:p>
            <a:pPr marL="342900" indent="-3429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commits  ·  28 PR mergées  ·  29 branches</a:t>
            </a:r>
          </a:p>
          <a:p>
            <a:pPr>
              <a:spcAft>
                <a:spcPts val="600"/>
              </a:spcAft>
            </a:pPr>
            <a:r>
              <a:rPr lang="en-US" sz="1400" i="1" dirty="0" err="1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</a:t>
            </a: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github.com/E-Zhaki/projet-miftah-arabi</a:t>
            </a:r>
          </a:p>
        </p:txBody>
      </p:sp>
      <p:pic>
        <p:nvPicPr>
          <p:cNvPr id="10" name="Image 0" descr="C:\wamp64\www\dwwm22\projet-miftah-arabi\captures-dossier\02-tableau-trello-projet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760" y="3159921"/>
            <a:ext cx="5577840" cy="3063326"/>
          </a:xfrm>
          <a:prstGeom prst="rect">
            <a:avLst/>
          </a:prstGeom>
        </p:spPr>
      </p:pic>
      <p:pic>
        <p:nvPicPr>
          <p:cNvPr id="11" name="Image 1" descr="C:\wamp64\www\dwwm22\projet-miftah-arabi\captures-dossier\03-github-branches-pull-requests-1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4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48400" y="3158678"/>
            <a:ext cx="5577840" cy="30633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6279366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Trello</a:t>
            </a:r>
          </a:p>
        </p:txBody>
      </p:sp>
      <p:sp>
        <p:nvSpPr>
          <p:cNvPr id="13" name="Text 9"/>
          <p:cNvSpPr/>
          <p:nvPr/>
        </p:nvSpPr>
        <p:spPr>
          <a:xfrm>
            <a:off x="6217920" y="6279366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GitHub</a:t>
            </a:r>
          </a:p>
        </p:txBody>
      </p:sp>
      <p:pic>
        <p:nvPicPr>
          <p:cNvPr id="19" name="Image 18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DEAD59BE-C8C8-78F4-233A-F38E54BE87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15" name="Image 14" descr="Une image contenant Panneau de signalisation, symbole, signe&#10;&#10;Le contenu généré par l’IA peut être incorrect.">
            <a:extLst>
              <a:ext uri="{FF2B5EF4-FFF2-40B4-BE49-F238E27FC236}">
                <a16:creationId xmlns:a16="http://schemas.microsoft.com/office/drawing/2014/main" id="{A5BA5897-9C26-03D1-7EFD-5845131AC2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1021" y="1704912"/>
            <a:ext cx="1113430" cy="1113430"/>
          </a:xfrm>
          <a:prstGeom prst="rect">
            <a:avLst/>
          </a:prstGeom>
        </p:spPr>
      </p:pic>
      <p:pic>
        <p:nvPicPr>
          <p:cNvPr id="17" name="Image 16" descr="Une image contenant chat, mammifère, silhouette&#10;&#10;Le contenu généré par l’IA peut être incorrect.">
            <a:extLst>
              <a:ext uri="{FF2B5EF4-FFF2-40B4-BE49-F238E27FC236}">
                <a16:creationId xmlns:a16="http://schemas.microsoft.com/office/drawing/2014/main" id="{5CCDA7E4-AE69-0B51-E68D-231AED6130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1067" y="1704911"/>
            <a:ext cx="1113431" cy="1113431"/>
          </a:xfrm>
          <a:prstGeom prst="rect">
            <a:avLst/>
          </a:prstGeom>
        </p:spPr>
      </p:pic>
      <p:pic>
        <p:nvPicPr>
          <p:cNvPr id="20" name="Image 19" descr="Une image contenant capture d’écran, logo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147EFA16-7B03-23EA-48B9-E44A0DC359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1114" y="1658626"/>
            <a:ext cx="1113430" cy="111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82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base de données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8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851484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Méthode Merise</a:t>
            </a:r>
          </a:p>
          <a:p>
            <a:pPr marL="342900" indent="0">
              <a:spcAft>
                <a:spcPts val="800"/>
              </a:spcAft>
              <a:buNone/>
            </a:pPr>
            <a:r>
              <a:rPr lang="fr-FR" sz="1300" i="1" dirty="0">
                <a:solidFill>
                  <a:srgbClr val="8C6A43"/>
                </a:solidFill>
                <a:latin typeface="Calibri" pitchFamily="34" charset="0"/>
              </a:rPr>
              <a:t>MCD → MLD → MPD (entités, relations, Doctrine)</a:t>
            </a:r>
          </a:p>
          <a:p>
            <a:pPr marL="342900" indent="-342900">
              <a:spcAft>
                <a:spcPts val="8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Modélisation avec DrawSQL</a:t>
            </a:r>
          </a:p>
          <a:p>
            <a:pPr marL="342900" indent="-342900">
              <a:spcAft>
                <a:spcPts val="8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8 entités principales</a:t>
            </a:r>
          </a:p>
          <a:p>
            <a:pPr marL="342900" indent="-342900">
              <a:spcAft>
                <a:spcPts val="8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Relations ManyToOne, ManyToMany, OneToMany</a:t>
            </a:r>
          </a:p>
          <a:p>
            <a:pPr marL="342900" indent="-342900">
              <a:spcAft>
                <a:spcPts val="8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11 migrations Doctrine</a:t>
            </a:r>
          </a:p>
        </p:txBody>
      </p:sp>
      <p:sp>
        <p:nvSpPr>
          <p:cNvPr id="10" name="Shape 8"/>
          <p:cNvSpPr/>
          <p:nvPr/>
        </p:nvSpPr>
        <p:spPr>
          <a:xfrm>
            <a:off x="3583172" y="1508760"/>
            <a:ext cx="8458264" cy="489799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0" descr="C:\wamp64\www\dwwm22\projet-miftah-arabi\captures-dossier\08-drawsql-schema-base-donnees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83172" y="1508760"/>
            <a:ext cx="8458263" cy="48979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sx="96000" sy="96000" algn="tl" rotWithShape="0">
              <a:srgbClr val="000000">
                <a:alpha val="52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Image 11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7F8394A3-A328-F564-A4D8-23AE8E915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53C86B8-9E9C-3FC5-1664-48EE2503FD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686" y="4791731"/>
            <a:ext cx="2372352" cy="65477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24617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9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5394960" cy="224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fr-FR" sz="1600" dirty="0">
                <a:solidFill>
                  <a:srgbClr val="2F241B"/>
                </a:solidFill>
                <a:latin typeface="Calibri" pitchFamily="34" charset="0"/>
              </a:rPr>
              <a:t>Architecture MVC</a:t>
            </a:r>
          </a:p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fr-FR" sz="1600" dirty="0">
                <a:solidFill>
                  <a:srgbClr val="2F241B"/>
                </a:solidFill>
                <a:latin typeface="Calibri" pitchFamily="34" charset="0"/>
              </a:rPr>
              <a:t>Symfony 7.4 / PHP 8.2</a:t>
            </a:r>
          </a:p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fr-FR" sz="1600" dirty="0">
                <a:solidFill>
                  <a:srgbClr val="2F241B"/>
                </a:solidFill>
                <a:latin typeface="Calibri" pitchFamily="34" charset="0"/>
              </a:rPr>
              <a:t>MySQL 8 / Doctrine ORM</a:t>
            </a:r>
          </a:p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fr-FR" sz="1600" dirty="0">
                <a:solidFill>
                  <a:srgbClr val="2F241B"/>
                </a:solidFill>
                <a:latin typeface="Calibri" pitchFamily="34" charset="0"/>
              </a:rPr>
              <a:t>Twig / SCSS / Bootstrap 5.3</a:t>
            </a:r>
          </a:p>
          <a:p>
            <a:pPr marL="342900" indent="-342900">
              <a:spcAft>
                <a:spcPts val="200"/>
              </a:spcAft>
              <a:buFont typeface="Arial" pitchFamily="34" charset="0"/>
              <a:buChar char="•"/>
            </a:pPr>
            <a:r>
              <a:rPr lang="fr-FR" sz="1600" dirty="0">
                <a:solidFill>
                  <a:srgbClr val="2F241B"/>
                </a:solidFill>
                <a:latin typeface="Calibri" pitchFamily="34" charset="0"/>
              </a:rPr>
              <a:t>Webpack Encore</a:t>
            </a:r>
          </a:p>
          <a:p>
            <a:pPr marL="571500" indent="0">
              <a:spcAft>
                <a:spcPts val="1200"/>
              </a:spcAft>
              <a:buNone/>
            </a:pPr>
            <a:r>
              <a:rPr lang="fr-FR" sz="1300" i="1" dirty="0">
                <a:solidFill>
                  <a:srgbClr val="8C6A43"/>
                </a:solidFill>
                <a:latin typeface="Calibri" pitchFamily="34" charset="0"/>
              </a:rPr>
              <a:t>compile SCSS/JS</a:t>
            </a:r>
          </a:p>
        </p:txBody>
      </p:sp>
      <p:sp>
        <p:nvSpPr>
          <p:cNvPr id="12" name="Shape 10"/>
          <p:cNvSpPr/>
          <p:nvPr/>
        </p:nvSpPr>
        <p:spPr>
          <a:xfrm>
            <a:off x="5989320" y="1508760"/>
            <a:ext cx="45720" cy="466344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dirty="0">
                <a:solidFill>
                  <a:srgbClr val="FFFFFF"/>
                </a:solidFill>
                <a:latin typeface="Calibri" pitchFamily="34" charset="0"/>
              </a:rPr>
              <a:t>Arborescence src/</a:t>
            </a:r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endParaRPr lang="fr-FR" sz="1400" dirty="0"/>
          </a:p>
          <a:p>
            <a:pPr marL="0" indent="0">
              <a:spcAft>
                <a:spcPts val="800"/>
              </a:spcAft>
              <a:buNone/>
            </a:pPr>
            <a:endParaRPr lang="fr-FR" sz="1400" dirty="0"/>
          </a:p>
          <a:p>
            <a:pPr marL="0" indent="0">
              <a:spcAft>
                <a:spcPts val="800"/>
              </a:spcAft>
              <a:buNone/>
            </a:pPr>
            <a:endParaRPr lang="fr-FR" sz="1400" dirty="0"/>
          </a:p>
          <a:p>
            <a:pPr marL="0" indent="0">
              <a:spcAft>
                <a:spcPts val="800"/>
              </a:spcAft>
              <a:buNone/>
            </a:pPr>
            <a:endParaRPr lang="fr-FR" sz="1400" dirty="0"/>
          </a:p>
          <a:p>
            <a:pPr marL="0" indent="0">
              <a:spcAft>
                <a:spcPts val="800"/>
              </a:spcAft>
              <a:buNone/>
            </a:pPr>
            <a:endParaRPr lang="fr-FR" sz="1400" dirty="0"/>
          </a:p>
          <a:p>
            <a:pPr marL="0" indent="0">
              <a:spcAft>
                <a:spcPts val="800"/>
              </a:spcAft>
              <a:buNone/>
            </a:pPr>
            <a:endParaRPr lang="fr-FR" sz="1400" dirty="0"/>
          </a:p>
          <a:p>
            <a:pPr marL="0" indent="0">
              <a:spcAft>
                <a:spcPts val="800"/>
              </a:spcAft>
              <a:buNone/>
            </a:pPr>
            <a:endParaRPr lang="fr-FR" sz="1400" dirty="0"/>
          </a:p>
          <a:p>
            <a:pPr marL="0" indent="0">
              <a:spcAft>
                <a:spcPts val="800"/>
              </a:spcAft>
              <a:buNone/>
            </a:pPr>
            <a:endParaRPr lang="fr-FR" sz="1400" dirty="0"/>
          </a:p>
          <a:p>
            <a:pPr marL="0" indent="0">
              <a:spcAft>
                <a:spcPts val="800"/>
              </a:spcAft>
              <a:buNone/>
            </a:pPr>
            <a:endParaRPr lang="fr-FR" sz="1400" dirty="0"/>
          </a:p>
          <a:p>
            <a:pPr marL="0" indent="0">
              <a:spcAft>
                <a:spcPts val="800"/>
              </a:spcAft>
              <a:buNone/>
            </a:pPr>
            <a:endParaRPr lang="fr-FR" sz="1400" dirty="0"/>
          </a:p>
          <a:p>
            <a:pPr marL="0" indent="0">
              <a:spcAft>
                <a:spcPts val="800"/>
              </a:spcAft>
              <a:buNone/>
            </a:pPr>
            <a:endParaRPr lang="fr-FR" sz="1400" dirty="0"/>
          </a:p>
          <a:p>
            <a:pPr marL="0" indent="0" algn="ctr">
              <a:buNone/>
            </a:pPr>
            <a:r>
              <a:rPr lang="fr-FR" sz="1300" i="1" dirty="0">
                <a:solidFill>
                  <a:srgbClr val="8C6A43"/>
                </a:solidFill>
                <a:latin typeface="Calibri" pitchFamily="34" charset="0"/>
              </a:rPr>
              <a:t>20 controllers · 8 entités · 11 FormType · 65 routes</a:t>
            </a:r>
          </a:p>
        </p:txBody>
      </p:sp>
      <p:pic>
        <p:nvPicPr>
          <p:cNvPr id="16" name="Image 15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1FC8EB8E-6E19-CD47-7E78-8C1B91BC5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C821124-58E2-0E9F-AF21-711D6C8546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530"/>
          <a:stretch/>
        </p:blipFill>
        <p:spPr>
          <a:xfrm>
            <a:off x="6881801" y="2032000"/>
            <a:ext cx="4391623" cy="320040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E61EACD-7BF0-103F-7569-419946E4B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033" y="4381500"/>
            <a:ext cx="635000" cy="63500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DE7014E-160D-0380-A412-30E84DFC2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13" y="4381500"/>
            <a:ext cx="1198113" cy="63500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21BD9BD-2B21-C764-CF1D-35975BB5EB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6895" y="4381500"/>
            <a:ext cx="635000" cy="63500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72CB271F-AA9A-3F8C-42BE-96360F8A11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3238" y="5232400"/>
            <a:ext cx="635000" cy="63500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E5D9619B-A6B5-2F5D-7A2A-28DFB5C854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195" y="5232400"/>
            <a:ext cx="635000" cy="63500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B1DCD91C-9244-6D67-0640-0C83F36E68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0552" y="5232400"/>
            <a:ext cx="635000" cy="63500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E2D6EFC-1A4F-A332-00CD-49B985E482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06895" y="5232400"/>
            <a:ext cx="635000" cy="635000"/>
          </a:xfrm>
          <a:prstGeom prst="rect">
            <a:avLst/>
          </a:prstGeom>
        </p:spPr>
      </p:pic>
      <p:sp>
        <p:nvSpPr>
          <p:cNvPr id="25" name="ResponsiveNote">
            <a:extLst>
              <a:ext uri="{FF2B5EF4-FFF2-40B4-BE49-F238E27FC236}">
                <a16:creationId xmlns:a16="http://schemas.microsoft.com/office/drawing/2014/main" id="{71DE1DB8-BED6-4F2A-9FE3-BE7A5BA8F0DD}"/>
              </a:ext>
            </a:extLst>
          </p:cNvPr>
          <p:cNvSpPr txBox="1"/>
          <p:nvPr/>
        </p:nvSpPr>
        <p:spPr>
          <a:xfrm>
            <a:off x="368300" y="5994400"/>
            <a:ext cx="53975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marL="0" indent="0">
              <a:buNone/>
            </a:pPr>
            <a:r>
              <a:rPr lang="fr-FR" sz="1100" b="1" i="1" dirty="0">
                <a:solidFill>
                  <a:srgbClr val="8C6A43"/>
                </a:solidFill>
                <a:latin typeface="Calibri"/>
              </a:rPr>
              <a:t>Interface responsive — Bootstrap 5.3 mobile-first</a:t>
            </a:r>
          </a:p>
        </p:txBody>
      </p:sp>
    </p:spTree>
    <p:extLst>
      <p:ext uri="{BB962C8B-B14F-4D97-AF65-F5344CB8AC3E}">
        <p14:creationId xmlns:p14="http://schemas.microsoft.com/office/powerpoint/2010/main" val="1213963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FFFFFF"/>
                </a:solidFill>
                <a:latin typeface="Calibri"/>
              </a:rPr>
              <a:t>Extraits de code — </a:t>
            </a:r>
            <a:r>
              <a:rPr lang="fr-FR" sz="2800" b="1" dirty="0" err="1">
                <a:solidFill>
                  <a:srgbClr val="FFFFFF"/>
                </a:solidFill>
                <a:latin typeface="Calibri"/>
              </a:rPr>
              <a:t>Front-end</a:t>
            </a:r>
            <a:endParaRPr lang="fr-FR"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10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dirty="0" err="1">
                <a:latin typeface="Calibri"/>
              </a:rPr>
              <a:t>Twig</a:t>
            </a:r>
            <a:endParaRPr lang="fr-FR" sz="1600" b="1" dirty="0">
              <a:latin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856232"/>
            <a:ext cx="5394960" cy="4027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9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 algn="ctr">
              <a:spcAft>
                <a:spcPts val="600"/>
              </a:spcAft>
              <a:buNone/>
            </a:pPr>
            <a:r>
              <a:rPr lang="fr-FR" sz="1400" i="1" dirty="0">
                <a:solidFill>
                  <a:srgbClr val="8C6A43"/>
                </a:solidFill>
                <a:latin typeface="Calibri"/>
              </a:rPr>
              <a:t>Affichage dynamique des leçons </a:t>
            </a:r>
          </a:p>
          <a:p>
            <a:pPr marL="342900" indent="0" algn="ctr">
              <a:spcAft>
                <a:spcPts val="600"/>
              </a:spcAft>
              <a:buNone/>
            </a:pPr>
            <a:r>
              <a:rPr lang="fr-FR" sz="1400" i="1" dirty="0">
                <a:solidFill>
                  <a:srgbClr val="8C6A43"/>
                </a:solidFill>
                <a:latin typeface="Calibri"/>
              </a:rPr>
              <a:t>(</a:t>
            </a:r>
            <a:r>
              <a:rPr lang="fr-FR" sz="1400" i="1" dirty="0" err="1">
                <a:solidFill>
                  <a:srgbClr val="8C6A43"/>
                </a:solidFill>
                <a:latin typeface="Calibri"/>
              </a:rPr>
              <a:t>templates</a:t>
            </a:r>
            <a:r>
              <a:rPr lang="fr-FR" sz="1400" i="1" dirty="0">
                <a:solidFill>
                  <a:srgbClr val="8C6A43"/>
                </a:solidFill>
                <a:latin typeface="Calibri"/>
              </a:rPr>
              <a:t>/pages/</a:t>
            </a:r>
            <a:r>
              <a:rPr lang="fr-FR" sz="1400" i="1" dirty="0" err="1">
                <a:solidFill>
                  <a:srgbClr val="8C6A43"/>
                </a:solidFill>
                <a:latin typeface="Calibri"/>
              </a:rPr>
              <a:t>visitor</a:t>
            </a:r>
            <a:r>
              <a:rPr lang="fr-FR" sz="1400" i="1" dirty="0">
                <a:solidFill>
                  <a:srgbClr val="8C6A43"/>
                </a:solidFill>
                <a:latin typeface="Calibri"/>
              </a:rPr>
              <a:t>/</a:t>
            </a:r>
            <a:r>
              <a:rPr lang="fr-FR" sz="1400" i="1" dirty="0" err="1">
                <a:solidFill>
                  <a:srgbClr val="8C6A43"/>
                </a:solidFill>
                <a:latin typeface="Calibri"/>
              </a:rPr>
              <a:t>lesson</a:t>
            </a:r>
            <a:r>
              <a:rPr lang="fr-FR" sz="1400" i="1" dirty="0">
                <a:solidFill>
                  <a:srgbClr val="8C6A43"/>
                </a:solidFill>
                <a:latin typeface="Calibri"/>
              </a:rPr>
              <a:t>/</a:t>
            </a:r>
            <a:r>
              <a:rPr lang="fr-FR" sz="1400" i="1" dirty="0" err="1">
                <a:solidFill>
                  <a:srgbClr val="8C6A43"/>
                </a:solidFill>
                <a:latin typeface="Calibri"/>
              </a:rPr>
              <a:t>index.html.twig</a:t>
            </a:r>
            <a:r>
              <a:rPr lang="fr-FR" sz="1400" i="1" dirty="0">
                <a:solidFill>
                  <a:srgbClr val="8C6A43"/>
                </a:solidFill>
                <a:latin typeface="Calibri"/>
              </a:rPr>
              <a:t>)</a:t>
            </a:r>
          </a:p>
          <a:p>
            <a:pPr>
              <a:spcAft>
                <a:spcPts val="9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89320" y="1508760"/>
            <a:ext cx="45720" cy="466344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dirty="0">
                <a:latin typeface="Calibri"/>
              </a:rPr>
              <a:t>Assets</a:t>
            </a:r>
          </a:p>
        </p:txBody>
      </p:sp>
      <p:sp>
        <p:nvSpPr>
          <p:cNvPr id="15" name="Text 13"/>
          <p:cNvSpPr/>
          <p:nvPr/>
        </p:nvSpPr>
        <p:spPr>
          <a:xfrm>
            <a:off x="6263640" y="1961388"/>
            <a:ext cx="5394960" cy="3922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9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i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i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i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i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i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algn="ctr">
              <a:spcAft>
                <a:spcPts val="600"/>
              </a:spcAft>
            </a:pPr>
            <a:r>
              <a:rPr lang="fr-FR" sz="1400" i="1" dirty="0" err="1">
                <a:solidFill>
                  <a:srgbClr val="8C6A43"/>
                </a:solidFill>
                <a:latin typeface="Calibri"/>
              </a:rPr>
              <a:t>Webpack</a:t>
            </a:r>
            <a:r>
              <a:rPr lang="fr-FR" sz="1400" i="1" dirty="0">
                <a:solidFill>
                  <a:srgbClr val="8C6A43"/>
                </a:solidFill>
                <a:latin typeface="Calibri"/>
              </a:rPr>
              <a:t> Encore et Bootstrap</a:t>
            </a:r>
          </a:p>
          <a:p>
            <a:pPr marL="342900" algn="ctr">
              <a:spcAft>
                <a:spcPts val="600"/>
              </a:spcAft>
            </a:pPr>
            <a:r>
              <a:rPr lang="fr-FR" sz="1400" i="1" dirty="0">
                <a:solidFill>
                  <a:srgbClr val="8C6A43"/>
                </a:solidFill>
                <a:latin typeface="Calibri"/>
              </a:rPr>
              <a:t>(</a:t>
            </a:r>
            <a:r>
              <a:rPr lang="fr-FR" sz="1400" i="1" dirty="0" err="1">
                <a:solidFill>
                  <a:srgbClr val="8C6A43"/>
                </a:solidFill>
                <a:latin typeface="Calibri"/>
              </a:rPr>
              <a:t>templates</a:t>
            </a:r>
            <a:r>
              <a:rPr lang="fr-FR" sz="1400" i="1" dirty="0">
                <a:solidFill>
                  <a:srgbClr val="8C6A43"/>
                </a:solidFill>
                <a:latin typeface="Calibri"/>
              </a:rPr>
              <a:t>/</a:t>
            </a:r>
            <a:r>
              <a:rPr lang="fr-FR" sz="1400" i="1" dirty="0" err="1">
                <a:solidFill>
                  <a:srgbClr val="8C6A43"/>
                </a:solidFill>
                <a:latin typeface="Calibri"/>
              </a:rPr>
              <a:t>themes</a:t>
            </a:r>
            <a:r>
              <a:rPr lang="fr-FR" sz="1400" i="1" dirty="0">
                <a:solidFill>
                  <a:srgbClr val="8C6A43"/>
                </a:solidFill>
                <a:latin typeface="Calibri"/>
              </a:rPr>
              <a:t>/</a:t>
            </a:r>
            <a:r>
              <a:rPr lang="fr-FR" sz="1400" i="1" dirty="0" err="1">
                <a:solidFill>
                  <a:srgbClr val="8C6A43"/>
                </a:solidFill>
                <a:latin typeface="Calibri"/>
              </a:rPr>
              <a:t>base_visitor.html.twig</a:t>
            </a:r>
            <a:r>
              <a:rPr lang="fr-FR" sz="1400" i="1" dirty="0">
                <a:solidFill>
                  <a:srgbClr val="8C6A43"/>
                </a:solidFill>
                <a:latin typeface="Calibri"/>
              </a:rPr>
              <a:t>)</a:t>
            </a: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</p:txBody>
      </p:sp>
      <p:pic>
        <p:nvPicPr>
          <p:cNvPr id="16" name="Image 15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1FC8EB8E-6E19-CD47-7E78-8C1B91BC5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28" name="Image 2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2EDA052-A9EE-8416-203A-82FFA31D9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56232"/>
            <a:ext cx="5394960" cy="4343400"/>
          </a:xfrm>
          <a:prstGeom prst="rect">
            <a:avLst/>
          </a:prstGeom>
        </p:spPr>
      </p:pic>
      <p:pic>
        <p:nvPicPr>
          <p:cNvPr id="19" name="Image 1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553DDFA-C9CA-B736-3BA5-1BAB83510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856233"/>
            <a:ext cx="539496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5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FFFFFF"/>
                </a:solidFill>
                <a:latin typeface="Calibri"/>
              </a:rPr>
              <a:t>Extraits de code — </a:t>
            </a:r>
            <a:r>
              <a:rPr lang="fr-FR" sz="2800" b="1" dirty="0" err="1">
                <a:solidFill>
                  <a:srgbClr val="FFFFFF"/>
                </a:solidFill>
                <a:latin typeface="Calibri"/>
              </a:rPr>
              <a:t>Back-end</a:t>
            </a:r>
            <a:endParaRPr lang="fr-FR"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11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600" b="1" dirty="0">
                <a:solidFill>
                  <a:srgbClr val="2F241B"/>
                </a:solidFill>
                <a:latin typeface="Calibri"/>
              </a:rPr>
              <a:t>Controller</a:t>
            </a:r>
          </a:p>
        </p:txBody>
      </p:sp>
      <p:sp>
        <p:nvSpPr>
          <p:cNvPr id="11" name="Text 9"/>
          <p:cNvSpPr/>
          <p:nvPr/>
        </p:nvSpPr>
        <p:spPr>
          <a:xfrm>
            <a:off x="365760" y="1856232"/>
            <a:ext cx="5440680" cy="40756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9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indent="0">
              <a:spcAft>
                <a:spcPts val="600"/>
              </a:spcAft>
              <a:buNone/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algn="ctr">
              <a:spcAft>
                <a:spcPts val="600"/>
              </a:spcAft>
            </a:pPr>
            <a:r>
              <a:rPr lang="fr-FR" sz="1400" i="1" dirty="0">
                <a:solidFill>
                  <a:srgbClr val="8C6A43"/>
                </a:solidFill>
                <a:latin typeface="Calibri"/>
              </a:rPr>
              <a:t>Publication d’une leçon côté admin (src/Controller/Admin/Lesson/</a:t>
            </a:r>
            <a:r>
              <a:rPr lang="fr-FR" sz="1400" i="1" dirty="0" err="1">
                <a:solidFill>
                  <a:srgbClr val="8C6A43"/>
                </a:solidFill>
                <a:latin typeface="Calibri"/>
              </a:rPr>
              <a:t>LessonController.php</a:t>
            </a:r>
            <a:r>
              <a:rPr lang="fr-FR" sz="1400" i="1" dirty="0">
                <a:solidFill>
                  <a:srgbClr val="8C6A43"/>
                </a:solidFill>
                <a:latin typeface="Calibri"/>
              </a:rPr>
              <a:t>)</a:t>
            </a:r>
          </a:p>
          <a:p>
            <a:pPr>
              <a:spcAft>
                <a:spcPts val="9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89320" y="1508760"/>
            <a:ext cx="45720" cy="466344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600" b="1" dirty="0">
                <a:solidFill>
                  <a:srgbClr val="2F241B"/>
                </a:solidFill>
                <a:latin typeface="Calibri"/>
              </a:rPr>
              <a:t>Repository</a:t>
            </a:r>
          </a:p>
        </p:txBody>
      </p:sp>
      <p:sp>
        <p:nvSpPr>
          <p:cNvPr id="15" name="Text 13"/>
          <p:cNvSpPr/>
          <p:nvPr/>
        </p:nvSpPr>
        <p:spPr>
          <a:xfrm>
            <a:off x="6263640" y="1961388"/>
            <a:ext cx="5394960" cy="3970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9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i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i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i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i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600" b="1" i="1" dirty="0">
              <a:solidFill>
                <a:srgbClr val="2F241B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>
              <a:spcAft>
                <a:spcPts val="600"/>
              </a:spcAft>
            </a:pPr>
            <a:endParaRPr lang="fr-FR" sz="1400" i="1" dirty="0">
              <a:solidFill>
                <a:srgbClr val="8C6A43"/>
              </a:solidFill>
              <a:latin typeface="Calibri"/>
            </a:endParaRPr>
          </a:p>
          <a:p>
            <a:pPr marL="342900" algn="ctr">
              <a:spcAft>
                <a:spcPts val="600"/>
              </a:spcAft>
            </a:pPr>
            <a:r>
              <a:rPr lang="fr-FR" sz="1600" i="1" dirty="0">
                <a:solidFill>
                  <a:srgbClr val="8C6A43"/>
                </a:solidFill>
                <a:latin typeface="Calibri"/>
              </a:rPr>
              <a:t>Requête Doctrine </a:t>
            </a:r>
            <a:r>
              <a:rPr lang="fr-FR" sz="1600" i="1" dirty="0" err="1">
                <a:solidFill>
                  <a:srgbClr val="8C6A43"/>
                </a:solidFill>
                <a:latin typeface="Calibri"/>
              </a:rPr>
              <a:t>QueryBuilder</a:t>
            </a:r>
            <a:r>
              <a:rPr lang="fr-FR" sz="1600" i="1" dirty="0">
                <a:solidFill>
                  <a:srgbClr val="8C6A43"/>
                </a:solidFill>
                <a:latin typeface="Calibri"/>
              </a:rPr>
              <a:t> (src/Repository/</a:t>
            </a:r>
            <a:r>
              <a:rPr lang="fr-FR" sz="1600" i="1" dirty="0" err="1">
                <a:solidFill>
                  <a:srgbClr val="8C6A43"/>
                </a:solidFill>
                <a:latin typeface="Calibri"/>
              </a:rPr>
              <a:t>LessonRepository.php</a:t>
            </a:r>
            <a:r>
              <a:rPr lang="fr-FR" sz="1600" i="1" dirty="0">
                <a:solidFill>
                  <a:srgbClr val="8C6A43"/>
                </a:solidFill>
                <a:latin typeface="Calibri"/>
              </a:rPr>
              <a:t>)</a:t>
            </a:r>
          </a:p>
          <a:p>
            <a:pPr marL="342900">
              <a:spcAft>
                <a:spcPts val="6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endParaRPr lang="fr-FR" sz="1600" b="1" dirty="0">
              <a:solidFill>
                <a:srgbClr val="2F241B"/>
              </a:solidFill>
              <a:latin typeface="Calibri"/>
            </a:endParaRPr>
          </a:p>
        </p:txBody>
      </p:sp>
      <p:pic>
        <p:nvPicPr>
          <p:cNvPr id="16" name="Image 15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1FC8EB8E-6E19-CD47-7E78-8C1B91BC5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20" name="Image 19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0C7EE87-E103-8FCD-D397-CF017FFB2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56232"/>
            <a:ext cx="5394960" cy="4075684"/>
          </a:xfrm>
          <a:prstGeom prst="rect">
            <a:avLst/>
          </a:prstGeom>
        </p:spPr>
      </p:pic>
      <p:pic>
        <p:nvPicPr>
          <p:cNvPr id="24" name="Image 2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F38D766B-A233-03FB-FE4F-1B0C5E1CEC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261" r="1314" b="5560"/>
          <a:stretch/>
        </p:blipFill>
        <p:spPr>
          <a:xfrm>
            <a:off x="365760" y="1881632"/>
            <a:ext cx="5394961" cy="407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92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Front-office — Espace visiteur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12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511300"/>
            <a:ext cx="5397500" cy="1739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Page d'accueil avec présentation et dernières leçons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Liste des leçons avec filtres (catégorie, tag, niveau) et pagination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Détail d'une leçon avec ressources associées</a:t>
            </a:r>
          </a:p>
        </p:txBody>
      </p:sp>
      <p:sp>
        <p:nvSpPr>
          <p:cNvPr id="10" name="Shape 8"/>
          <p:cNvSpPr/>
          <p:nvPr/>
        </p:nvSpPr>
        <p:spPr>
          <a:xfrm>
            <a:off x="365760" y="2939796"/>
            <a:ext cx="3566160" cy="32324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0" descr="C:\wamp64\www\dwwm22\projet-miftah-arabi\captures-dossier\11-page-accueil-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08300"/>
            <a:ext cx="3571240" cy="30353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5947755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</a:p>
        </p:txBody>
      </p:sp>
      <p:sp>
        <p:nvSpPr>
          <p:cNvPr id="13" name="Shape 10"/>
          <p:cNvSpPr/>
          <p:nvPr/>
        </p:nvSpPr>
        <p:spPr>
          <a:xfrm>
            <a:off x="4160519" y="2939796"/>
            <a:ext cx="3594717" cy="32324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1" descr="C:\wamp64\www\dwwm22\projet-miftah-arabi\captures-dossier\12-liste-lecons-filtres-pagin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077" y="2903220"/>
            <a:ext cx="3566160" cy="3035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60520" y="5947755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leçons</a:t>
            </a:r>
          </a:p>
        </p:txBody>
      </p:sp>
      <p:sp>
        <p:nvSpPr>
          <p:cNvPr id="16" name="Shape 12"/>
          <p:cNvSpPr/>
          <p:nvPr/>
        </p:nvSpPr>
        <p:spPr>
          <a:xfrm>
            <a:off x="7955280" y="2939796"/>
            <a:ext cx="3896360" cy="32324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C:\wamp64\www\dwwm22\projet-miftah-arabi\captures-dossier\13-detail-lecon-ressour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908300"/>
            <a:ext cx="3896360" cy="3035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55280" y="5947755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leçon</a:t>
            </a:r>
          </a:p>
        </p:txBody>
      </p:sp>
      <p:pic>
        <p:nvPicPr>
          <p:cNvPr id="19" name="Image 18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BADC7500-1F60-078C-67F9-DB06C628EC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sp>
        <p:nvSpPr>
          <p:cNvPr id="20" name="RightBullets">
            <a:extLst>
              <a:ext uri="{FF2B5EF4-FFF2-40B4-BE49-F238E27FC236}">
                <a16:creationId xmlns:a16="http://schemas.microsoft.com/office/drawing/2014/main" id="{4F095D9C-4A31-4EA0-B71A-AAD327233A9C}"/>
              </a:ext>
            </a:extLst>
          </p:cNvPr>
          <p:cNvSpPr txBox="1"/>
          <p:nvPr/>
        </p:nvSpPr>
        <p:spPr>
          <a:xfrm>
            <a:off x="6337302" y="1502065"/>
            <a:ext cx="5397500" cy="1739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Formulaire de contact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Pages légales (Mentions légales, CGU)</a:t>
            </a:r>
          </a:p>
          <a:p>
            <a:pPr marL="342900" indent="-342900">
              <a:spcAft>
                <a:spcPts val="2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Pages d'erreur personnalisées (403/404)</a:t>
            </a:r>
          </a:p>
          <a:p>
            <a:pPr marL="571500" indent="0">
              <a:spcAft>
                <a:spcPts val="0"/>
              </a:spcAft>
              <a:buNone/>
            </a:pPr>
            <a:r>
              <a:rPr lang="fr-FR" sz="1300" i="1" dirty="0">
                <a:solidFill>
                  <a:srgbClr val="8C6A43"/>
                </a:solidFill>
                <a:latin typeface="Calibri" pitchFamily="34" charset="0"/>
              </a:rPr>
              <a:t>templates/bundles/TwigBundle/Exception/</a:t>
            </a:r>
          </a:p>
        </p:txBody>
      </p:sp>
    </p:spTree>
    <p:extLst>
      <p:ext uri="{BB962C8B-B14F-4D97-AF65-F5344CB8AC3E}">
        <p14:creationId xmlns:p14="http://schemas.microsoft.com/office/powerpoint/2010/main" val="3398517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et espace utilisateur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13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511300"/>
            <a:ext cx="5397500" cy="165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Inscription avec validation 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Vérification email (UserChecker)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Connexion sécurisée · Limitation 3 tentatives/min</a:t>
            </a:r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0" descr="C:\wamp64\www\dwwm22\projet-miftah-arabi\captures-dossier\14-formulaire-inscri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154680"/>
            <a:ext cx="2697480" cy="2788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5946093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</a:p>
        </p:txBody>
      </p:sp>
      <p:sp>
        <p:nvSpPr>
          <p:cNvPr id="13" name="Shape 10"/>
          <p:cNvSpPr/>
          <p:nvPr/>
        </p:nvSpPr>
        <p:spPr>
          <a:xfrm>
            <a:off x="3246120" y="31546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1" descr="C:\wamp64\www\dwwm22\projet-miftah-arabi\captures-dossier\28-page-connex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152187"/>
            <a:ext cx="2697480" cy="27914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5946093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</a:p>
        </p:txBody>
      </p:sp>
      <p:sp>
        <p:nvSpPr>
          <p:cNvPr id="16" name="Shape 12"/>
          <p:cNvSpPr/>
          <p:nvPr/>
        </p:nvSpPr>
        <p:spPr>
          <a:xfrm>
            <a:off x="6126480" y="31546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C:\wamp64\www\dwwm22\projet-miftah-arabi\captures-dossier\16-page-profil-utilisateu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154680"/>
            <a:ext cx="2697480" cy="2788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5946093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</a:p>
        </p:txBody>
      </p:sp>
      <p:sp>
        <p:nvSpPr>
          <p:cNvPr id="19" name="Shape 14"/>
          <p:cNvSpPr/>
          <p:nvPr/>
        </p:nvSpPr>
        <p:spPr>
          <a:xfrm>
            <a:off x="9006840" y="31546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3" descr="C:\wamp64\www\dwwm22\projet-miftah-arabi\captures-dossier\17-page-mes-favor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3152187"/>
            <a:ext cx="2697480" cy="279141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06840" y="5946093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</a:t>
            </a:r>
          </a:p>
        </p:txBody>
      </p:sp>
      <p:pic>
        <p:nvPicPr>
          <p:cNvPr id="22" name="Image 21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511F12B4-1312-8381-A43B-BF988314B0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sp>
        <p:nvSpPr>
          <p:cNvPr id="23" name="RightBullets">
            <a:extLst>
              <a:ext uri="{FF2B5EF4-FFF2-40B4-BE49-F238E27FC236}">
                <a16:creationId xmlns:a16="http://schemas.microsoft.com/office/drawing/2014/main" id="{352BBC7F-D995-41BB-830D-1F0FAE37149B}"/>
              </a:ext>
            </a:extLst>
          </p:cNvPr>
          <p:cNvSpPr txBox="1"/>
          <p:nvPr/>
        </p:nvSpPr>
        <p:spPr>
          <a:xfrm>
            <a:off x="6311900" y="1511300"/>
            <a:ext cx="53975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Réinitialisation du mot de passe par email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Gestion du profil utilisateur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Gestion des leçons favorites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endParaRPr lang="fr-FR" sz="1700" dirty="0">
              <a:solidFill>
                <a:srgbClr val="2F241B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263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— Espace administration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14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199" y="1508760"/>
            <a:ext cx="5151749" cy="11164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avec vue d'ensemble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: catégories, tags, leçons, ressources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7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/ dépublication </a:t>
            </a:r>
            <a:r>
              <a:rPr lang="en-US" sz="1700" dirty="0" err="1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</a:t>
            </a:r>
            <a:r>
              <a:rPr lang="en-US" sz="17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</a:t>
            </a:r>
            <a:endParaRPr lang="en-US" sz="1700" dirty="0">
              <a:solidFill>
                <a:srgbClr val="2F24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7160" y="3171309"/>
            <a:ext cx="3794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0" descr="C:\wamp64\www\dwwm22\projet-miftah-arabi\captures-dossier\18-tableau-bord-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75000"/>
            <a:ext cx="3479800" cy="28321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605582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</a:p>
        </p:txBody>
      </p:sp>
      <p:sp>
        <p:nvSpPr>
          <p:cNvPr id="13" name="Shape 10"/>
          <p:cNvSpPr/>
          <p:nvPr/>
        </p:nvSpPr>
        <p:spPr>
          <a:xfrm>
            <a:off x="4160520" y="3171309"/>
            <a:ext cx="36753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1" descr="C:\wamp64\www\dwwm22\projet-miftah-arabi\captures-dossier\19-admin-liste-lec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100" y="3175000"/>
            <a:ext cx="3479800" cy="28321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60520" y="605582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leçons</a:t>
            </a:r>
          </a:p>
        </p:txBody>
      </p:sp>
      <p:sp>
        <p:nvSpPr>
          <p:cNvPr id="16" name="Shape 12"/>
          <p:cNvSpPr/>
          <p:nvPr/>
        </p:nvSpPr>
        <p:spPr>
          <a:xfrm>
            <a:off x="7955280" y="3171309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C:\wamp64\www\dwwm22\projet-miftah-arabi\captures-dossier\22-admin-messages-cont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000" y="3175000"/>
            <a:ext cx="3479800" cy="28321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55280" y="605582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</a:p>
        </p:txBody>
      </p:sp>
      <p:pic>
        <p:nvPicPr>
          <p:cNvPr id="19" name="Image 18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4940FD34-8310-4552-F9EA-77A11CE9F3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sp>
        <p:nvSpPr>
          <p:cNvPr id="20" name="RightBullets">
            <a:extLst>
              <a:ext uri="{FF2B5EF4-FFF2-40B4-BE49-F238E27FC236}">
                <a16:creationId xmlns:a16="http://schemas.microsoft.com/office/drawing/2014/main" id="{D21C4507-19C4-C200-8F87-50C5B072466A}"/>
              </a:ext>
            </a:extLst>
          </p:cNvPr>
          <p:cNvSpPr txBox="1"/>
          <p:nvPr/>
        </p:nvSpPr>
        <p:spPr>
          <a:xfrm>
            <a:off x="6337302" y="1502066"/>
            <a:ext cx="5397500" cy="111640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Gestion des utilisateurs (rôles, statuts)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Suivi des messages de contact</a:t>
            </a:r>
          </a:p>
          <a:p>
            <a:pPr marL="342900" indent="-342900">
              <a:spcAft>
                <a:spcPts val="200"/>
              </a:spcAft>
              <a:buFont typeface="Arial" pitchFamily="34" charset="0"/>
              <a:buChar char="•"/>
            </a:pPr>
            <a:r>
              <a:rPr lang="fr-FR" sz="1700" dirty="0">
                <a:solidFill>
                  <a:srgbClr val="2F241B"/>
                </a:solidFill>
                <a:latin typeface="Calibri" pitchFamily="34" charset="0"/>
              </a:rPr>
              <a:t>Mode maintenance</a:t>
            </a:r>
          </a:p>
          <a:p>
            <a:pPr marL="571500" indent="0">
              <a:spcAft>
                <a:spcPts val="0"/>
              </a:spcAft>
              <a:buNone/>
            </a:pPr>
            <a:r>
              <a:rPr lang="fr-FR" sz="1300" i="1" dirty="0">
                <a:solidFill>
                  <a:srgbClr val="8C6A43"/>
                </a:solidFill>
                <a:latin typeface="Calibri" pitchFamily="34" charset="0"/>
              </a:rPr>
              <a:t>Commande Symfony  + </a:t>
            </a:r>
            <a:r>
              <a:rPr lang="fr-FR" sz="1300" i="1" dirty="0" err="1">
                <a:solidFill>
                  <a:srgbClr val="8C6A43"/>
                </a:solidFill>
                <a:latin typeface="Calibri" pitchFamily="34" charset="0"/>
              </a:rPr>
              <a:t>EventSubscriber</a:t>
            </a:r>
            <a:endParaRPr lang="fr-FR" sz="1300" i="1" dirty="0">
              <a:solidFill>
                <a:srgbClr val="8C6A43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521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15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dirty="0">
                <a:solidFill>
                  <a:srgbClr val="FFFFFF"/>
                </a:solidFill>
                <a:latin typeface="Calibri" pitchFamily="34" charset="0"/>
              </a:rPr>
              <a:t>Configuration security.yaml</a:t>
            </a:r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5394960" cy="459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fr-FR" sz="1600" b="1" dirty="0">
                <a:solidFill>
                  <a:srgbClr val="2F241B"/>
                </a:solidFill>
                <a:latin typeface="Consolas"/>
              </a:rPr>
              <a:t>password_hashers</a:t>
            </a:r>
          </a:p>
          <a:p>
            <a:pPr marL="228600" indent="0">
              <a:spcAft>
                <a:spcPts val="900"/>
              </a:spcAft>
              <a:buNone/>
            </a:pPr>
            <a:r>
              <a:rPr lang="fr-FR" sz="1400" dirty="0">
                <a:solidFill>
                  <a:srgbClr val="2F241B"/>
                </a:solidFill>
                <a:latin typeface="Calibri" pitchFamily="34" charset="0"/>
              </a:rPr>
              <a:t>Hashage bcrypt automatique — jamais en clair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fr-FR" sz="1600" b="1" dirty="0">
                <a:solidFill>
                  <a:srgbClr val="2F241B"/>
                </a:solidFill>
                <a:latin typeface="Consolas"/>
              </a:rPr>
              <a:t>login_throttling</a:t>
            </a:r>
          </a:p>
          <a:p>
            <a:pPr marL="228600" indent="0">
              <a:spcAft>
                <a:spcPts val="900"/>
              </a:spcAft>
              <a:buNone/>
            </a:pPr>
            <a:r>
              <a:rPr lang="fr-FR" sz="1400" dirty="0">
                <a:solidFill>
                  <a:srgbClr val="2F241B"/>
                </a:solidFill>
                <a:latin typeface="Calibri" pitchFamily="34" charset="0"/>
              </a:rPr>
              <a:t>3 tentatives / minute — anti force brute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fr-FR" sz="1600" b="1" dirty="0">
                <a:solidFill>
                  <a:srgbClr val="2F241B"/>
                </a:solidFill>
                <a:latin typeface="Consolas"/>
              </a:rPr>
              <a:t>access_control</a:t>
            </a:r>
          </a:p>
          <a:p>
            <a:pPr marL="228600" indent="0">
              <a:spcAft>
                <a:spcPts val="900"/>
              </a:spcAft>
              <a:buNone/>
            </a:pPr>
            <a:r>
              <a:rPr lang="fr-FR" sz="1400" dirty="0">
                <a:solidFill>
                  <a:srgbClr val="2F241B"/>
                </a:solidFill>
                <a:latin typeface="Calibri" pitchFamily="34" charset="0"/>
              </a:rPr>
              <a:t>Séparation ROLE_USER / ROLE_ADMIN</a:t>
            </a:r>
          </a:p>
          <a:p>
            <a:pPr marL="0" indent="0">
              <a:spcAft>
                <a:spcPts val="0"/>
              </a:spcAft>
              <a:buNone/>
            </a:pPr>
            <a:r>
              <a:rPr lang="fr-FR" sz="1300" b="1" dirty="0">
                <a:solidFill>
                  <a:srgbClr val="8C6A43"/>
                </a:solidFill>
                <a:latin typeface="Calibri" pitchFamily="34" charset="0"/>
              </a:rPr>
              <a:t>Référentiels : ANSSI · CNIL (RGPD)</a:t>
            </a:r>
          </a:p>
        </p:txBody>
      </p:sp>
      <p:sp>
        <p:nvSpPr>
          <p:cNvPr id="12" name="Shape 10"/>
          <p:cNvSpPr/>
          <p:nvPr/>
        </p:nvSpPr>
        <p:spPr>
          <a:xfrm>
            <a:off x="5989320" y="1508760"/>
            <a:ext cx="45720" cy="466344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dirty="0">
                <a:solidFill>
                  <a:srgbClr val="FFFFFF"/>
                </a:solidFill>
                <a:latin typeface="Calibri" pitchFamily="34" charset="0"/>
              </a:rPr>
              <a:t>Risques &amp; protections</a:t>
            </a:r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716123" cy="1318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fr-FR" sz="1300" b="1" dirty="0">
                <a:solidFill>
                  <a:srgbClr val="8C6A43"/>
                </a:solidFill>
                <a:latin typeface="Calibri" pitchFamily="34" charset="0"/>
              </a:rPr>
              <a:t>Force brute</a:t>
            </a:r>
            <a:r>
              <a:rPr lang="fr-FR" sz="1300" dirty="0">
                <a:solidFill>
                  <a:srgbClr val="2F241B"/>
                </a:solidFill>
                <a:latin typeface="Calibri" pitchFamily="34" charset="0"/>
              </a:rPr>
              <a:t> → Rate limiter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fr-FR" sz="1300" b="1" dirty="0">
                <a:solidFill>
                  <a:srgbClr val="8C6A43"/>
                </a:solidFill>
                <a:latin typeface="Calibri" pitchFamily="34" charset="0"/>
              </a:rPr>
              <a:t>XSS</a:t>
            </a:r>
            <a:r>
              <a:rPr lang="fr-FR" sz="1300" dirty="0">
                <a:solidFill>
                  <a:srgbClr val="2F241B"/>
                </a:solidFill>
                <a:latin typeface="Calibri" pitchFamily="34" charset="0"/>
              </a:rPr>
              <a:t> → Échappement Twig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fr-FR" sz="1300" b="1" dirty="0">
                <a:solidFill>
                  <a:srgbClr val="8C6A43"/>
                </a:solidFill>
                <a:latin typeface="Calibri" pitchFamily="34" charset="0"/>
              </a:rPr>
              <a:t>Injection SQL</a:t>
            </a:r>
            <a:r>
              <a:rPr lang="fr-FR" sz="1300" dirty="0">
                <a:solidFill>
                  <a:srgbClr val="2F241B"/>
                </a:solidFill>
                <a:latin typeface="Calibri" pitchFamily="34" charset="0"/>
              </a:rPr>
              <a:t> → Doctrine paramétré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fr-FR" sz="1300" b="1" dirty="0">
                <a:solidFill>
                  <a:srgbClr val="8C6A43"/>
                </a:solidFill>
                <a:latin typeface="Calibri" pitchFamily="34" charset="0"/>
              </a:rPr>
              <a:t>CSRF</a:t>
            </a:r>
            <a:r>
              <a:rPr lang="fr-FR" sz="1300" dirty="0">
                <a:solidFill>
                  <a:srgbClr val="2F241B"/>
                </a:solidFill>
                <a:latin typeface="Calibri" pitchFamily="34" charset="0"/>
              </a:rPr>
              <a:t> → Jeton unique</a:t>
            </a:r>
          </a:p>
        </p:txBody>
      </p:sp>
      <p:pic>
        <p:nvPicPr>
          <p:cNvPr id="16" name="Image 15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B4549A10-331E-7E55-3FF4-F1F4F9269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19" name="Image 18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4104005F-AC48-BA4D-4C66-E6DFE5748D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8000"/>
                    </a14:imgEffect>
                  </a14:imgLayer>
                </a14:imgProps>
              </a:ext>
            </a:extLst>
          </a:blip>
          <a:srcRect l="14155" t="22169"/>
          <a:stretch/>
        </p:blipFill>
        <p:spPr>
          <a:xfrm>
            <a:off x="430530" y="5473329"/>
            <a:ext cx="5269230" cy="9457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Image 20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8E5FD9B5-46E6-6CB7-04B0-2F77ACFBDF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32000"/>
                    </a14:imgEffect>
                  </a14:imgLayer>
                </a14:imgProps>
              </a:ext>
            </a:extLst>
          </a:blip>
          <a:srcRect l="1749" t="57952"/>
          <a:stretch/>
        </p:blipFill>
        <p:spPr>
          <a:xfrm>
            <a:off x="430530" y="4330757"/>
            <a:ext cx="5269230" cy="10415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RisksRight">
            <a:extLst>
              <a:ext uri="{FF2B5EF4-FFF2-40B4-BE49-F238E27FC236}">
                <a16:creationId xmlns:a16="http://schemas.microsoft.com/office/drawing/2014/main" id="{C9C64A67-3FF1-4303-96CB-E777425D7755}"/>
              </a:ext>
            </a:extLst>
          </p:cNvPr>
          <p:cNvSpPr txBox="1"/>
          <p:nvPr/>
        </p:nvSpPr>
        <p:spPr>
          <a:xfrm>
            <a:off x="8896757" y="1917700"/>
            <a:ext cx="2761843" cy="1406652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fr-FR" sz="1300" b="1" dirty="0">
                <a:solidFill>
                  <a:srgbClr val="8C6A43"/>
                </a:solidFill>
                <a:latin typeface="Calibri" pitchFamily="34" charset="0"/>
              </a:rPr>
              <a:t>Mots de passe en clair </a:t>
            </a:r>
            <a:r>
              <a:rPr lang="fr-FR" sz="1300" dirty="0">
                <a:solidFill>
                  <a:srgbClr val="2F241B"/>
                </a:solidFill>
                <a:latin typeface="Calibri" pitchFamily="34" charset="0"/>
              </a:rPr>
              <a:t>→ Hashage bcrypt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fr-FR" sz="1300" b="1" dirty="0" err="1">
                <a:solidFill>
                  <a:srgbClr val="8C6A43"/>
                </a:solidFill>
                <a:latin typeface="Calibri" pitchFamily="34" charset="0"/>
              </a:rPr>
              <a:t>Upload</a:t>
            </a:r>
            <a:r>
              <a:rPr lang="fr-FR" sz="1300" b="1" dirty="0">
                <a:solidFill>
                  <a:srgbClr val="8C6A43"/>
                </a:solidFill>
                <a:latin typeface="Calibri" pitchFamily="34" charset="0"/>
              </a:rPr>
              <a:t> malveillant </a:t>
            </a:r>
            <a:r>
              <a:rPr lang="fr-FR" sz="1300" dirty="0">
                <a:solidFill>
                  <a:srgbClr val="2F241B"/>
                </a:solidFill>
                <a:latin typeface="Calibri" pitchFamily="34" charset="0"/>
              </a:rPr>
              <a:t>→ VichUploader + validation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fr-FR" sz="1300" b="1" dirty="0">
                <a:solidFill>
                  <a:srgbClr val="8C6A43"/>
                </a:solidFill>
                <a:latin typeface="Calibri" pitchFamily="34" charset="0"/>
              </a:rPr>
              <a:t>Secrets dans Git </a:t>
            </a:r>
            <a:r>
              <a:rPr lang="fr-FR" sz="1300" dirty="0">
                <a:solidFill>
                  <a:srgbClr val="2F241B"/>
                </a:solidFill>
                <a:latin typeface="Calibri" pitchFamily="34" charset="0"/>
              </a:rPr>
              <a:t>→ .env.local hors versionning</a:t>
            </a:r>
          </a:p>
        </p:txBody>
      </p:sp>
      <p:pic>
        <p:nvPicPr>
          <p:cNvPr id="24" name="Image 2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577B887-FEA2-C7F6-B259-BE938303AE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1530" b="33938"/>
          <a:stretch/>
        </p:blipFill>
        <p:spPr>
          <a:xfrm>
            <a:off x="6324600" y="3302508"/>
            <a:ext cx="5334000" cy="31165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6648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Qualité, tests, outils et veille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16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4944979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500" dirty="0">
                <a:solidFill>
                  <a:srgbClr val="2F241B"/>
                </a:solidFill>
                <a:latin typeface="Calibri" pitchFamily="34" charset="0"/>
              </a:rPr>
              <a:t>PHP CS Fixer — standards PSR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500" dirty="0">
                <a:solidFill>
                  <a:srgbClr val="2F241B"/>
                </a:solidFill>
                <a:latin typeface="Calibri" pitchFamily="34" charset="0"/>
              </a:rPr>
              <a:t>PHPStan — analyse statique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500" dirty="0">
                <a:solidFill>
                  <a:srgbClr val="2F241B"/>
                </a:solidFill>
                <a:latin typeface="Calibri" pitchFamily="34" charset="0"/>
              </a:rPr>
              <a:t>Tests manuels par scénarios (admin, user, visiteur)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500" dirty="0">
                <a:solidFill>
                  <a:srgbClr val="2F241B"/>
                </a:solidFill>
                <a:latin typeface="Calibri" pitchFamily="34" charset="0"/>
              </a:rPr>
              <a:t>Mailtrap (emails)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500" dirty="0">
                <a:solidFill>
                  <a:srgbClr val="2F241B"/>
                </a:solidFill>
                <a:latin typeface="Calibri" pitchFamily="34" charset="0"/>
              </a:rPr>
              <a:t>Composer audit (dépendances)</a:t>
            </a:r>
          </a:p>
          <a:p>
            <a:pPr marL="342900" indent="-342900">
              <a:spcAft>
                <a:spcPts val="500"/>
              </a:spcAft>
              <a:buFont typeface="Arial" pitchFamily="34" charset="0"/>
              <a:buChar char="•"/>
            </a:pPr>
            <a:r>
              <a:rPr lang="fr-FR" sz="1500" dirty="0">
                <a:solidFill>
                  <a:srgbClr val="2F241B"/>
                </a:solidFill>
                <a:latin typeface="Calibri" pitchFamily="34" charset="0"/>
              </a:rPr>
              <a:t>Veille : Symfony, Doctrine, OWASP, ANSSI, CNIL</a:t>
            </a:r>
          </a:p>
          <a:p>
            <a:pPr marL="342900" indent="-342900">
              <a:spcAft>
                <a:spcPts val="200"/>
              </a:spcAft>
              <a:buFont typeface="Arial" pitchFamily="34" charset="0"/>
              <a:buChar char="•"/>
            </a:pPr>
            <a:r>
              <a:rPr lang="fr-FR" sz="1500" dirty="0">
                <a:solidFill>
                  <a:srgbClr val="2F241B"/>
                </a:solidFill>
                <a:latin typeface="Calibri" pitchFamily="34" charset="0"/>
              </a:rPr>
              <a:t>Failles identifiées &amp; corrigées</a:t>
            </a:r>
          </a:p>
          <a:p>
            <a:pPr marL="571500" indent="0">
              <a:spcAft>
                <a:spcPts val="100"/>
              </a:spcAft>
              <a:buNone/>
            </a:pPr>
            <a:r>
              <a:rPr lang="fr-FR" sz="1200" i="1" dirty="0">
                <a:solidFill>
                  <a:srgbClr val="8C6A43"/>
                </a:solidFill>
                <a:latin typeface="Calibri" pitchFamily="34" charset="0"/>
              </a:rPr>
              <a:t>autorisation suppression favoris · unicité favoris · secrets sortis de Git</a:t>
            </a:r>
          </a:p>
          <a:p>
            <a:pPr marL="342900" indent="-342900">
              <a:spcAft>
                <a:spcPts val="200"/>
              </a:spcAft>
              <a:buFont typeface="Arial" pitchFamily="34" charset="0"/>
              <a:buChar char="•"/>
            </a:pPr>
            <a:r>
              <a:rPr lang="fr-FR" sz="1500" dirty="0">
                <a:solidFill>
                  <a:srgbClr val="2F241B"/>
                </a:solidFill>
                <a:latin typeface="Calibri" pitchFamily="34" charset="0"/>
              </a:rPr>
              <a:t>IA générative — assistance ciblée</a:t>
            </a:r>
          </a:p>
          <a:p>
            <a:pPr marL="571500" indent="0">
              <a:spcAft>
                <a:spcPts val="0"/>
              </a:spcAft>
              <a:buNone/>
            </a:pPr>
            <a:r>
              <a:rPr lang="fr-FR" sz="1200" i="1" dirty="0">
                <a:solidFill>
                  <a:srgbClr val="8C6A43"/>
                </a:solidFill>
                <a:latin typeface="Calibri" pitchFamily="34" charset="0"/>
              </a:rPr>
              <a:t>rédaction Mentions / CGU</a:t>
            </a:r>
          </a:p>
        </p:txBody>
      </p:sp>
      <p:sp>
        <p:nvSpPr>
          <p:cNvPr id="10" name="Shape 8"/>
          <p:cNvSpPr/>
          <p:nvPr/>
        </p:nvSpPr>
        <p:spPr>
          <a:xfrm>
            <a:off x="5402179" y="1511300"/>
            <a:ext cx="6654587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0" descr="C:\wamp64\www\dwwm22\projet-miftah-arabi\captures-dossier\04-mailtrap-email-test.png"/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2000"/>
                    </a14:imgEffect>
                    <a14:imgEffect>
                      <a14:colorTemperature colorTemp="6300"/>
                    </a14:imgEffect>
                    <a14:imgEffect>
                      <a14:saturation sat="10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02179" y="1490472"/>
            <a:ext cx="6654587" cy="43388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 9"/>
          <p:cNvSpPr/>
          <p:nvPr/>
        </p:nvSpPr>
        <p:spPr>
          <a:xfrm>
            <a:off x="6578600" y="5965058"/>
            <a:ext cx="5118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Mailtrap — test d'envoi d'email en développement</a:t>
            </a:r>
          </a:p>
        </p:txBody>
      </p:sp>
      <p:pic>
        <p:nvPicPr>
          <p:cNvPr id="13" name="Image 12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D2D0F7E9-D020-B71F-9998-C27331F7F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2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d'essai — Inscription et vérification d'email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17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IntroText"/>
          <p:cNvSpPr txBox="1"/>
          <p:nvPr/>
        </p:nvSpPr>
        <p:spPr>
          <a:xfrm>
            <a:off x="457200" y="1524000"/>
            <a:ext cx="11252200" cy="355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400" i="1" dirty="0">
                <a:solidFill>
                  <a:srgbClr val="8C6A43"/>
                </a:solidFill>
                <a:latin typeface="Calibri"/>
              </a:rPr>
              <a:t>Fonctionnalité la plus représentative : parcours d'inscription avec vérification d'email obligatoire</a:t>
            </a:r>
          </a:p>
        </p:txBody>
      </p:sp>
      <p:graphicFrame>
        <p:nvGraphicFramePr>
          <p:cNvPr id="21" name="JeuEssaiTable"/>
          <p:cNvGraphicFramePr>
            <a:graphicFrameLocks noGrp="1"/>
          </p:cNvGraphicFramePr>
          <p:nvPr/>
        </p:nvGraphicFramePr>
        <p:xfrm>
          <a:off x="457200" y="1905000"/>
          <a:ext cx="11252200" cy="3251200"/>
        </p:xfrm>
        <a:graphic>
          <a:graphicData uri="http://schemas.openxmlformats.org/drawingml/2006/table">
            <a:tbl>
              <a:tblPr firstRow="1" band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Scénario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8C6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Donnée en entrée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8C6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Résultat attendu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8C6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Résultat obtenu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8C6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Inscription standard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Email valide, mot de passe conforme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Compte créé (non vérifié), email envoyé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200" b="1" dirty="0">
                          <a:solidFill>
                            <a:srgbClr val="2F241B"/>
                          </a:solidFill>
                          <a:latin typeface="Calibri"/>
                        </a:rPr>
                        <a:t>Conforme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Mot de passe faible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Mot de passe &lt; 12 caractères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Erreur de validation affichée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200" b="1" dirty="0">
                          <a:solidFill>
                            <a:srgbClr val="2F241B"/>
                          </a:solidFill>
                          <a:latin typeface="Calibri"/>
                        </a:rPr>
                        <a:t>Conforme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Email déjà utilisé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Email d'un compte existant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Message d'erreur (unicité)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200" b="1" dirty="0">
                          <a:solidFill>
                            <a:srgbClr val="2F241B"/>
                          </a:solidFill>
                          <a:latin typeface="Calibri"/>
                        </a:rPr>
                        <a:t>Conforme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Connexion non vérifiée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Compte créé mais non validé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Accès bloqué par UserChecker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200" b="1" dirty="0">
                          <a:solidFill>
                            <a:srgbClr val="2F241B"/>
                          </a:solidFill>
                          <a:latin typeface="Calibri"/>
                        </a:rPr>
                        <a:t>Conforme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Validation via lien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Clic sur lien Mailtrap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200" dirty="0">
                          <a:solidFill>
                            <a:srgbClr val="2F241B"/>
                          </a:solidFill>
                          <a:latin typeface="Calibri"/>
                        </a:rPr>
                        <a:t>Compte activé, connexion autorisée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200" b="1" dirty="0">
                          <a:solidFill>
                            <a:srgbClr val="2F241B"/>
                          </a:solidFill>
                          <a:latin typeface="Calibri"/>
                        </a:rPr>
                        <a:t>Conforme</a:t>
                      </a:r>
                    </a:p>
                  </a:txBody>
                  <a:tcPr marL="72000" marR="72000" marT="36000" marB="36000" anchor="ctr">
                    <a:lnL w="6350">
                      <a:solidFill>
                        <a:srgbClr val="D8C3A5"/>
                      </a:solidFill>
                    </a:lnL>
                    <a:lnR w="6350">
                      <a:solidFill>
                        <a:srgbClr val="D8C3A5"/>
                      </a:solidFill>
                    </a:lnR>
                    <a:lnT w="6350">
                      <a:solidFill>
                        <a:srgbClr val="D8C3A5"/>
                      </a:solidFill>
                    </a:lnT>
                    <a:lnB w="6350">
                      <a:solidFill>
                        <a:srgbClr val="D8C3A5"/>
                      </a:solidFill>
                    </a:lnB>
                    <a:solidFill>
                      <a:srgbClr val="F7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Conclusion"/>
          <p:cNvSpPr txBox="1"/>
          <p:nvPr/>
        </p:nvSpPr>
        <p:spPr>
          <a:xfrm>
            <a:off x="457200" y="5283200"/>
            <a:ext cx="11252200" cy="406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1400" i="1" dirty="0">
                <a:solidFill>
                  <a:srgbClr val="8C6A43"/>
                </a:solidFill>
                <a:latin typeface="Calibri"/>
              </a:rPr>
              <a:t>→ Aucun écart relevé : tous les scénarios de ce parcours critique sont conformes aux résultats attendus.</a:t>
            </a:r>
          </a:p>
        </p:txBody>
      </p:sp>
      <p:pic>
        <p:nvPicPr>
          <p:cNvPr id="12" name="Image 11" descr="Une image contenant texte, capture d’écran, dessin humoristique, conception&#10;&#10;Le contenu généré par l’IA peut être incorrect.">
            <a:extLst>
              <a:ext uri="{FF2B5EF4-FFF2-40B4-BE49-F238E27FC236}">
                <a16:creationId xmlns:a16="http://schemas.microsoft.com/office/drawing/2014/main" id="{9ABB91A1-E479-1069-C7E7-E576CE736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052" y="5181600"/>
            <a:ext cx="2484268" cy="133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787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18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1247120" cy="452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d'email — flux complet avec UserChecker</a:t>
            </a:r>
          </a:p>
          <a:p>
            <a:pPr marL="342900" indent="-342900">
              <a:spcAft>
                <a:spcPts val="10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d'images — config VichUploaderBundle</a:t>
            </a:r>
          </a:p>
          <a:p>
            <a:pPr marL="342900" indent="-342900">
              <a:spcAft>
                <a:spcPts val="1000"/>
              </a:spcAft>
              <a:buFont typeface="Arial" pitchFamily="34" charset="0"/>
              <a:buChar char="•"/>
            </a:pPr>
            <a:r>
              <a:rPr lang="en-US" sz="1800" dirty="0" err="1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</a:t>
            </a: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périmètre MVP — savoir prioriser</a:t>
            </a:r>
          </a:p>
          <a:p>
            <a:pPr marL="342900" indent="-342900">
              <a:spcAft>
                <a:spcPts val="10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</a:t>
            </a:r>
            <a:r>
              <a:rPr lang="en-US" sz="1800" dirty="0" err="1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</a:t>
            </a:r>
            <a:r>
              <a:rPr lang="en-US" sz="18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</a:t>
            </a:r>
            <a:r>
              <a:rPr lang="en-US" sz="1800" dirty="0" err="1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Hotsinger</a:t>
            </a:r>
            <a:endParaRPr lang="en-US" sz="1800" dirty="0">
              <a:solidFill>
                <a:srgbClr val="2F24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1800" i="1" dirty="0">
                <a:solidFill>
                  <a:srgbClr val="8C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Chaque difficulté m'a appris à chercher dans la doc et à mieux prioriser.</a:t>
            </a:r>
          </a:p>
        </p:txBody>
      </p:sp>
      <p:pic>
        <p:nvPicPr>
          <p:cNvPr id="10" name="Image 9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C58E9B9A-7CBD-BA9F-2173-ACB4E29FF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12" name="Image 11" descr="Une image contenant croquis, art, noir, noir et blanc&#10;&#10;Le contenu généré par l’IA peut être incorrect.">
            <a:extLst>
              <a:ext uri="{FF2B5EF4-FFF2-40B4-BE49-F238E27FC236}">
                <a16:creationId xmlns:a16="http://schemas.microsoft.com/office/drawing/2014/main" id="{D227E746-B86E-CA35-0BE5-C71F79893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2032000"/>
            <a:ext cx="2540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3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perspectives</a:t>
            </a: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19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mobilisées</a:t>
            </a:r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CCP1 : développement front-end sécurisé</a:t>
            </a:r>
          </a:p>
          <a:p>
            <a:pPr marL="342900" indent="-342900">
              <a:spcAft>
                <a:spcPts val="160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CCP2 : développement back-end sécurisé</a:t>
            </a:r>
          </a:p>
          <a:p>
            <a:pPr marL="342900" indent="-342900">
              <a:spcAft>
                <a:spcPts val="160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BDD (</a:t>
            </a:r>
            <a:r>
              <a:rPr lang="en-US" sz="1600" dirty="0" err="1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Merise</a:t>
            </a: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</a:p>
          <a:p>
            <a:pPr marL="342900" indent="-342900">
              <a:spcAft>
                <a:spcPts val="160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MVC (Symfony)</a:t>
            </a:r>
          </a:p>
          <a:p>
            <a:pPr marL="342900" indent="-342900">
              <a:spcAft>
                <a:spcPts val="160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web (OWASP)</a:t>
            </a:r>
          </a:p>
          <a:p>
            <a:pPr marL="342900" indent="-342900">
              <a:spcAft>
                <a:spcPts val="160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Agile / Git</a:t>
            </a:r>
          </a:p>
        </p:txBody>
      </p:sp>
      <p:sp>
        <p:nvSpPr>
          <p:cNvPr id="12" name="Shape 10"/>
          <p:cNvSpPr/>
          <p:nvPr/>
        </p:nvSpPr>
        <p:spPr>
          <a:xfrm>
            <a:off x="5989320" y="1508760"/>
            <a:ext cx="45720" cy="466344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d’évolution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(PHPUnit)</a:t>
            </a:r>
          </a:p>
          <a:p>
            <a:pPr marL="342900" indent="-342900"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domaine personnalisé</a:t>
            </a:r>
          </a:p>
          <a:p>
            <a:pPr marL="342900" indent="-342900"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et suivi de progression</a:t>
            </a:r>
          </a:p>
          <a:p>
            <a:pPr marL="342900" indent="-342900"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sur les leçons</a:t>
            </a:r>
          </a:p>
          <a:p>
            <a:pPr marL="342900" indent="-342900"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srgbClr val="2F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apprenant enrichi</a:t>
            </a:r>
          </a:p>
        </p:txBody>
      </p:sp>
      <p:pic>
        <p:nvPicPr>
          <p:cNvPr id="16" name="Image 15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CC827A8D-1A61-AB5E-24B7-249D00337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18" name="Image 17" descr="Une image contenant roue, véhicule, pneu, voiture&#10;&#10;Le contenu généré par l’IA peut être incorrect.">
            <a:extLst>
              <a:ext uri="{FF2B5EF4-FFF2-40B4-BE49-F238E27FC236}">
                <a16:creationId xmlns:a16="http://schemas.microsoft.com/office/drawing/2014/main" id="{4FA4800C-7FB8-9E87-0FE1-FB2317D09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0" y="4171166"/>
            <a:ext cx="1905000" cy="2051833"/>
          </a:xfrm>
          <a:prstGeom prst="rect">
            <a:avLst/>
          </a:prstGeom>
        </p:spPr>
      </p:pic>
      <p:pic>
        <p:nvPicPr>
          <p:cNvPr id="20" name="Image 19" descr="Une image contenant art, capture d’écran, noir et blanc, texte&#10;&#10;Le contenu généré par l’IA peut être incorrect.">
            <a:extLst>
              <a:ext uri="{FF2B5EF4-FFF2-40B4-BE49-F238E27FC236}">
                <a16:creationId xmlns:a16="http://schemas.microsoft.com/office/drawing/2014/main" id="{C1597849-8FA2-6B70-153D-2AF87FAC7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4064000"/>
            <a:ext cx="1905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89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7A5634"/>
          </a:solidFill>
          <a:ln w="12700">
            <a:solidFill>
              <a:srgbClr val="7A56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28016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FFFFFF"/>
                </a:solidFill>
                <a:latin typeface="Calibri" pitchFamily="34" charset="0"/>
              </a:rPr>
              <a:t>Mise en production</a:t>
            </a:r>
          </a:p>
        </p:txBody>
      </p:sp>
      <p:sp>
        <p:nvSpPr>
          <p:cNvPr id="6" name="Text 4"/>
          <p:cNvSpPr/>
          <p:nvPr/>
        </p:nvSpPr>
        <p:spPr>
          <a:xfrm>
            <a:off x="27432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Miftah Arabi — Zhaki EL OUARROUDI — DWWM 2025-2026</a:t>
            </a:r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fr-FR" sz="1000" dirty="0">
                <a:solidFill>
                  <a:srgbClr val="FFFFFF"/>
                </a:solidFill>
                <a:latin typeface="Calibri"/>
              </a:rPr>
              <a:t>20 / 21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1932920" cy="36576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11290300" cy="447548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11290300" cy="447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dirty="0">
                <a:solidFill>
                  <a:srgbClr val="FFFFFF"/>
                </a:solidFill>
                <a:latin typeface="Calibri" pitchFamily="34" charset="0"/>
              </a:rPr>
              <a:t>Hébergement </a:t>
            </a:r>
            <a:r>
              <a:rPr lang="fr-FR" sz="2000" b="1" dirty="0" err="1">
                <a:solidFill>
                  <a:srgbClr val="FFFFFF"/>
                </a:solidFill>
                <a:latin typeface="Calibri" pitchFamily="34" charset="0"/>
              </a:rPr>
              <a:t>Hostinger</a:t>
            </a:r>
            <a:r>
              <a:rPr lang="fr-FR" sz="2000" b="1" dirty="0">
                <a:solidFill>
                  <a:srgbClr val="FFFFFF"/>
                </a:solidFill>
                <a:latin typeface="Calibri" pitchFamily="34" charset="0"/>
              </a:rPr>
              <a:t> (mutualisé)</a:t>
            </a:r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11290300" cy="4037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fr-FR" b="1" dirty="0">
                <a:solidFill>
                  <a:srgbClr val="2F241B"/>
                </a:solidFill>
                <a:latin typeface="Calibri" pitchFamily="34" charset="0"/>
              </a:rPr>
              <a:t>5 étapes du déploiement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b="1" dirty="0">
                <a:solidFill>
                  <a:srgbClr val="8C6A43"/>
                </a:solidFill>
                <a:latin typeface="Calibri" pitchFamily="34" charset="0"/>
              </a:rPr>
              <a:t>1. </a:t>
            </a:r>
            <a:r>
              <a:rPr lang="fr-FR" dirty="0">
                <a:solidFill>
                  <a:srgbClr val="2F241B"/>
                </a:solidFill>
                <a:latin typeface="Calibri" pitchFamily="34" charset="0"/>
              </a:rPr>
              <a:t>Connexion au serveur (SSH)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b="1" dirty="0">
                <a:solidFill>
                  <a:srgbClr val="8C6A43"/>
                </a:solidFill>
                <a:latin typeface="Calibri" pitchFamily="34" charset="0"/>
              </a:rPr>
              <a:t>2. </a:t>
            </a:r>
            <a:r>
              <a:rPr lang="fr-FR" dirty="0">
                <a:solidFill>
                  <a:srgbClr val="2F241B"/>
                </a:solidFill>
                <a:latin typeface="Calibri" pitchFamily="34" charset="0"/>
              </a:rPr>
              <a:t>Récupération du code depuis GitHub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b="1" dirty="0">
                <a:solidFill>
                  <a:srgbClr val="8C6A43"/>
                </a:solidFill>
                <a:latin typeface="Calibri" pitchFamily="34" charset="0"/>
              </a:rPr>
              <a:t>3. </a:t>
            </a:r>
            <a:r>
              <a:rPr lang="fr-FR" dirty="0">
                <a:solidFill>
                  <a:srgbClr val="2F241B"/>
                </a:solidFill>
                <a:latin typeface="Calibri" pitchFamily="34" charset="0"/>
              </a:rPr>
              <a:t>Installation des dépendances + compilation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b="1" dirty="0">
                <a:solidFill>
                  <a:srgbClr val="8C6A43"/>
                </a:solidFill>
                <a:latin typeface="Calibri" pitchFamily="34" charset="0"/>
              </a:rPr>
              <a:t>4. </a:t>
            </a:r>
            <a:r>
              <a:rPr lang="fr-FR" dirty="0">
                <a:solidFill>
                  <a:srgbClr val="2F241B"/>
                </a:solidFill>
                <a:latin typeface="Calibri" pitchFamily="34" charset="0"/>
              </a:rPr>
              <a:t>Création de la base + compte admin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b="1" dirty="0">
                <a:solidFill>
                  <a:srgbClr val="8C6A43"/>
                </a:solidFill>
                <a:latin typeface="Calibri" pitchFamily="34" charset="0"/>
              </a:rPr>
              <a:t>5. </a:t>
            </a:r>
            <a:r>
              <a:rPr lang="fr-FR" dirty="0">
                <a:solidFill>
                  <a:srgbClr val="2F241B"/>
                </a:solidFill>
                <a:latin typeface="Calibri" pitchFamily="34" charset="0"/>
              </a:rPr>
              <a:t>Configuration finale (.htaccess, permissions, HTTPS)</a:t>
            </a:r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r-FR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1500" dirty="0"/>
          </a:p>
        </p:txBody>
      </p:sp>
      <p:pic>
        <p:nvPicPr>
          <p:cNvPr id="16" name="Image 15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CC827A8D-1A61-AB5E-24B7-249D00337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359" y="-443484"/>
            <a:ext cx="2121408" cy="2121408"/>
          </a:xfrm>
          <a:prstGeom prst="rect">
            <a:avLst/>
          </a:prstGeom>
        </p:spPr>
      </p:pic>
      <p:pic>
        <p:nvPicPr>
          <p:cNvPr id="20" name="Image 19" descr="Une image contenant capture d’écran, cercle, noir et blanc, monochrome&#10;&#10;Le contenu généré par l’IA peut être incorrect.">
            <a:extLst>
              <a:ext uri="{FF2B5EF4-FFF2-40B4-BE49-F238E27FC236}">
                <a16:creationId xmlns:a16="http://schemas.microsoft.com/office/drawing/2014/main" id="{46CCD22E-F3CD-76A9-9E93-DCDEB8A69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64000"/>
            <a:ext cx="1905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39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A5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263640"/>
            <a:ext cx="12192000" cy="365760"/>
          </a:xfrm>
          <a:prstGeom prst="rect">
            <a:avLst/>
          </a:prstGeom>
          <a:solidFill>
            <a:srgbClr val="8C6A43"/>
          </a:solidFill>
          <a:ln w="12700">
            <a:solidFill>
              <a:srgbClr val="8C6A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5486400" cy="54864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8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en ligne : </a:t>
            </a:r>
            <a:r>
              <a:rPr lang="en-US" sz="2200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palegoldenrod-snail-949194.hostingersite.com</a:t>
            </a:r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8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Zhaki EL OUARROUDI</a:t>
            </a:r>
          </a:p>
        </p:txBody>
      </p:sp>
      <p:sp>
        <p:nvSpPr>
          <p:cNvPr id="8" name="Shape 6"/>
          <p:cNvSpPr/>
          <p:nvPr/>
        </p:nvSpPr>
        <p:spPr>
          <a:xfrm>
            <a:off x="3200400" y="4343400"/>
            <a:ext cx="5486400" cy="457200"/>
          </a:xfrm>
          <a:prstGeom prst="rect">
            <a:avLst/>
          </a:prstGeom>
          <a:solidFill>
            <a:srgbClr val="C49B66"/>
          </a:solidFill>
          <a:ln w="12700">
            <a:solidFill>
              <a:srgbClr val="C49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0" y="4343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du site en production + Questions</a:t>
            </a:r>
          </a:p>
        </p:txBody>
      </p:sp>
    </p:spTree>
    <p:extLst>
      <p:ext uri="{BB962C8B-B14F-4D97-AF65-F5344CB8AC3E}">
        <p14:creationId xmlns:p14="http://schemas.microsoft.com/office/powerpoint/2010/main" val="1264485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81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695145-9469-4982-A522-918960A8F8E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d9637e3-da06-411b-bad3-0c2e99dacd9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9573</TotalTime>
  <Words>1396</Words>
  <Application>Microsoft Office PowerPoint</Application>
  <PresentationFormat>Grand écran</PresentationFormat>
  <Paragraphs>357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E-ZHAKI</cp:lastModifiedBy>
  <cp:revision>102</cp:revision>
  <dcterms:created xsi:type="dcterms:W3CDTF">2026-04-12T14:30:39Z</dcterms:created>
  <dcterms:modified xsi:type="dcterms:W3CDTF">2026-05-16T20:31:41Z</dcterms:modified>
</cp:coreProperties>
</file>